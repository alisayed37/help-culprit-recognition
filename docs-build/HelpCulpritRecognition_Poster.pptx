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6" r:id="rId2"/>
  </p:sldIdLst>
  <p:sldSz cx="25201563" cy="35999738"/>
  <p:notesSz cx="6715125" cy="9239250"/>
  <p:defaultTextStyle>
    <a:defPPr>
      <a:defRPr lang="en-US"/>
    </a:defPPr>
    <a:lvl1pPr algn="ctr" rtl="0" fontAlgn="base">
      <a:spcBef>
        <a:spcPct val="0"/>
      </a:spcBef>
      <a:spcAft>
        <a:spcPct val="0"/>
      </a:spcAft>
      <a:defRPr sz="69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ctr" rtl="0" fontAlgn="base">
      <a:spcBef>
        <a:spcPct val="0"/>
      </a:spcBef>
      <a:spcAft>
        <a:spcPct val="0"/>
      </a:spcAft>
      <a:defRPr sz="69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ctr" rtl="0" fontAlgn="base">
      <a:spcBef>
        <a:spcPct val="0"/>
      </a:spcBef>
      <a:spcAft>
        <a:spcPct val="0"/>
      </a:spcAft>
      <a:defRPr sz="69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ctr" rtl="0" fontAlgn="base">
      <a:spcBef>
        <a:spcPct val="0"/>
      </a:spcBef>
      <a:spcAft>
        <a:spcPct val="0"/>
      </a:spcAft>
      <a:defRPr sz="69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ctr" rtl="0" fontAlgn="base">
      <a:spcBef>
        <a:spcPct val="0"/>
      </a:spcBef>
      <a:spcAft>
        <a:spcPct val="0"/>
      </a:spcAft>
      <a:defRPr sz="69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6900"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sz="6900"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sz="6900"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sz="6900"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5289">
          <p15:clr>
            <a:srgbClr val="A4A3A4"/>
          </p15:clr>
        </p15:guide>
        <p15:guide id="2" orient="horz" pos="22086">
          <p15:clr>
            <a:srgbClr val="A4A3A4"/>
          </p15:clr>
        </p15:guide>
        <p15:guide id="3" orient="horz" pos="2349">
          <p15:clr>
            <a:srgbClr val="A4A3A4"/>
          </p15:clr>
        </p15:guide>
        <p15:guide id="4" pos="7938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0C0C0"/>
    <a:srgbClr val="0046D2"/>
    <a:srgbClr val="FF0000"/>
    <a:srgbClr val="698ED9"/>
    <a:srgbClr val="A7C4FF"/>
    <a:srgbClr val="003064"/>
    <a:srgbClr val="003399"/>
    <a:srgbClr val="00216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9F50C76-3026-444F-81B2-9CC3BE465F20}" v="7" dt="2023-10-15T20:05:06.99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6934" autoAdjust="0"/>
    <p:restoredTop sz="94660"/>
  </p:normalViewPr>
  <p:slideViewPr>
    <p:cSldViewPr snapToGrid="0" showGuides="1">
      <p:cViewPr varScale="1">
        <p:scale>
          <a:sx n="12" d="100"/>
          <a:sy n="12" d="100"/>
        </p:scale>
        <p:origin x="1808" y="4"/>
      </p:cViewPr>
      <p:guideLst>
        <p:guide orient="horz" pos="5289"/>
        <p:guide orient="horz" pos="22086"/>
        <p:guide orient="horz" pos="2349"/>
        <p:guide pos="7938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ala Mousher Ebied" userId="2c8562f9-399d-4d6c-9952-079e08271c2a" providerId="ADAL" clId="{D9F50C76-3026-444F-81B2-9CC3BE465F20}"/>
    <pc:docChg chg="modSld">
      <pc:chgData name="Hala Mousher Ebied" userId="2c8562f9-399d-4d6c-9952-079e08271c2a" providerId="ADAL" clId="{D9F50C76-3026-444F-81B2-9CC3BE465F20}" dt="2023-10-15T20:05:16.749" v="11" actId="14100"/>
      <pc:docMkLst>
        <pc:docMk/>
      </pc:docMkLst>
      <pc:sldChg chg="addSp delSp modSp mod">
        <pc:chgData name="Hala Mousher Ebied" userId="2c8562f9-399d-4d6c-9952-079e08271c2a" providerId="ADAL" clId="{D9F50C76-3026-444F-81B2-9CC3BE465F20}" dt="2023-10-15T20:05:16.749" v="11" actId="14100"/>
        <pc:sldMkLst>
          <pc:docMk/>
          <pc:sldMk cId="0" sldId="256"/>
        </pc:sldMkLst>
        <pc:spChg chg="mod">
          <ac:chgData name="Hala Mousher Ebied" userId="2c8562f9-399d-4d6c-9952-079e08271c2a" providerId="ADAL" clId="{D9F50C76-3026-444F-81B2-9CC3BE465F20}" dt="2023-10-15T20:03:00.485" v="2" actId="1076"/>
          <ac:spMkLst>
            <pc:docMk/>
            <pc:sldMk cId="0" sldId="256"/>
            <ac:spMk id="2055" creationId="{00000000-0000-0000-0000-000000000000}"/>
          </ac:spMkLst>
        </pc:spChg>
        <pc:spChg chg="del">
          <ac:chgData name="Hala Mousher Ebied" userId="2c8562f9-399d-4d6c-9952-079e08271c2a" providerId="ADAL" clId="{D9F50C76-3026-444F-81B2-9CC3BE465F20}" dt="2023-10-15T20:04:30.032" v="5" actId="478"/>
          <ac:spMkLst>
            <pc:docMk/>
            <pc:sldMk cId="0" sldId="256"/>
            <ac:spMk id="2057" creationId="{00000000-0000-0000-0000-000000000000}"/>
          </ac:spMkLst>
        </pc:spChg>
        <pc:spChg chg="del">
          <ac:chgData name="Hala Mousher Ebied" userId="2c8562f9-399d-4d6c-9952-079e08271c2a" providerId="ADAL" clId="{D9F50C76-3026-444F-81B2-9CC3BE465F20}" dt="2023-10-15T20:05:06.993" v="9" actId="478"/>
          <ac:spMkLst>
            <pc:docMk/>
            <pc:sldMk cId="0" sldId="256"/>
            <ac:spMk id="2064" creationId="{00000000-0000-0000-0000-000000000000}"/>
          </ac:spMkLst>
        </pc:spChg>
        <pc:picChg chg="add del mod">
          <ac:chgData name="Hala Mousher Ebied" userId="2c8562f9-399d-4d6c-9952-079e08271c2a" providerId="ADAL" clId="{D9F50C76-3026-444F-81B2-9CC3BE465F20}" dt="2023-10-15T20:02:57.407" v="1" actId="931"/>
          <ac:picMkLst>
            <pc:docMk/>
            <pc:sldMk cId="0" sldId="256"/>
            <ac:picMk id="3" creationId="{10F7DB5D-55EE-CEFF-C1D4-85A4AB9A3F10}"/>
          </ac:picMkLst>
        </pc:picChg>
        <pc:picChg chg="add mod">
          <ac:chgData name="Hala Mousher Ebied" userId="2c8562f9-399d-4d6c-9952-079e08271c2a" providerId="ADAL" clId="{D9F50C76-3026-444F-81B2-9CC3BE465F20}" dt="2023-10-15T20:04:37.605" v="6" actId="14100"/>
          <ac:picMkLst>
            <pc:docMk/>
            <pc:sldMk cId="0" sldId="256"/>
            <ac:picMk id="5" creationId="{E509137A-6770-D7A7-89AB-77433F2F17E4}"/>
          </ac:picMkLst>
        </pc:picChg>
        <pc:picChg chg="add mod">
          <ac:chgData name="Hala Mousher Ebied" userId="2c8562f9-399d-4d6c-9952-079e08271c2a" providerId="ADAL" clId="{D9F50C76-3026-444F-81B2-9CC3BE465F20}" dt="2023-10-15T20:05:16.749" v="11" actId="14100"/>
          <ac:picMkLst>
            <pc:docMk/>
            <pc:sldMk cId="0" sldId="256"/>
            <ac:picMk id="7" creationId="{29AB08D2-1547-0B42-A132-0A7F219458C9}"/>
          </ac:picMkLst>
        </pc:picChg>
      </pc:sldChg>
    </pc:docChg>
  </pc:docChgLst>
</pc:chgInfo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09888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200" smtClean="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03650" y="0"/>
            <a:ext cx="2909888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smtClean="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2144713" y="692150"/>
            <a:ext cx="2427287" cy="3465513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71513" y="4389438"/>
            <a:ext cx="5372100" cy="41576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noProof="0"/>
              <a:t>Click to edit Master text styles</a:t>
            </a:r>
          </a:p>
          <a:p>
            <a:pPr lvl="1"/>
            <a:r>
              <a:rPr lang="en-US" altLang="en-US" noProof="0"/>
              <a:t>Second level</a:t>
            </a:r>
          </a:p>
          <a:p>
            <a:pPr lvl="2"/>
            <a:r>
              <a:rPr lang="en-US" altLang="en-US" noProof="0"/>
              <a:t>Third level</a:t>
            </a:r>
          </a:p>
          <a:p>
            <a:pPr lvl="3"/>
            <a:r>
              <a:rPr lang="en-US" altLang="en-US" noProof="0"/>
              <a:t>Fourth level</a:t>
            </a:r>
          </a:p>
          <a:p>
            <a:pPr lvl="4"/>
            <a:r>
              <a:rPr lang="en-US" altLang="en-US" noProof="0"/>
              <a:t>Fifth level</a:t>
            </a: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775700"/>
            <a:ext cx="2909888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defRPr sz="1200" smtClean="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03650" y="8775700"/>
            <a:ext cx="2909888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smtClean="0"/>
            </a:lvl1pPr>
          </a:lstStyle>
          <a:p>
            <a:pPr>
              <a:defRPr/>
            </a:pPr>
            <a:fld id="{CBF2D407-7488-4806-B042-2CE959A140D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0445174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 sz="69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69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69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69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69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69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69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69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69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8832FB4B-BF18-4E6F-9FD7-11EF81A610E2}" type="slidenum">
              <a:rPr lang="en-US" altLang="en-US" sz="1200"/>
              <a:pPr eaLnBrk="1" hangingPunct="1"/>
              <a:t>1</a:t>
            </a:fld>
            <a:endParaRPr lang="en-US" altLang="en-US" sz="1200"/>
          </a:p>
        </p:txBody>
      </p:sp>
      <p:sp>
        <p:nvSpPr>
          <p:cNvPr id="40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0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90713" y="11183938"/>
            <a:ext cx="21420137" cy="771525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779838" y="20399375"/>
            <a:ext cx="17641887" cy="92011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819170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0475" y="1441450"/>
            <a:ext cx="22680613" cy="600075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60475" y="8399463"/>
            <a:ext cx="22680613" cy="2375852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300577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90725" y="23133050"/>
            <a:ext cx="21421725" cy="7150100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90725" y="15257463"/>
            <a:ext cx="21421725" cy="78755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5043153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0475" y="1441450"/>
            <a:ext cx="22680613" cy="600075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60475" y="8399463"/>
            <a:ext cx="11263313" cy="23758525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676188" y="8399463"/>
            <a:ext cx="11264900" cy="23758525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900210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0475" y="1441450"/>
            <a:ext cx="22680613" cy="60007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0475" y="8058150"/>
            <a:ext cx="11134725" cy="335915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60475" y="11417300"/>
            <a:ext cx="11134725" cy="207406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2801600" y="8058150"/>
            <a:ext cx="11139488" cy="335915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2801600" y="11417300"/>
            <a:ext cx="11139488" cy="207406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439217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0475" y="1441450"/>
            <a:ext cx="22680613" cy="600075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9934403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291954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0475" y="1433513"/>
            <a:ext cx="8291513" cy="6099175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53613" y="1433513"/>
            <a:ext cx="14087475" cy="3072447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60475" y="7532688"/>
            <a:ext cx="8291513" cy="246253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2271385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40300" y="25199975"/>
            <a:ext cx="15120938" cy="2974975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940300" y="3216275"/>
            <a:ext cx="15120938" cy="215995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940300" y="28174950"/>
            <a:ext cx="15120938" cy="42243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026769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0475" y="1441450"/>
            <a:ext cx="22680613" cy="600075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60475" y="8399463"/>
            <a:ext cx="22680613" cy="23758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055488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8272125" y="1441450"/>
            <a:ext cx="5668963" cy="307165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60475" y="1441450"/>
            <a:ext cx="16859250" cy="307165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86231779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hyperlink" Target="http://www.megaprint.com/" TargetMode="Externa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w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hlinkClick r:id="rId13"/>
            <a:extLst>
              <a:ext uri="{FF2B5EF4-FFF2-40B4-BE49-F238E27FC236}">
                <a16:creationId xmlns:a16="http://schemas.microsoft.com/office/drawing/2014/main" id="{6BFFBEBF-6F96-4D73-87E7-3525B82575B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8727"/>
          <a:stretch>
            <a:fillRect/>
          </a:stretch>
        </p:blipFill>
        <p:spPr bwMode="auto">
          <a:xfrm>
            <a:off x="19379372" y="35425506"/>
            <a:ext cx="3255359" cy="1671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TextBox 1">
            <a:extLst>
              <a:ext uri="{FF2B5EF4-FFF2-40B4-BE49-F238E27FC236}">
                <a16:creationId xmlns:a16="http://schemas.microsoft.com/office/drawing/2014/main" id="{9C365D95-4213-4FDE-84BF-DFB5A2F65993}"/>
              </a:ext>
            </a:extLst>
          </p:cNvPr>
          <p:cNvSpPr txBox="1"/>
          <p:nvPr userDrawn="1"/>
        </p:nvSpPr>
        <p:spPr>
          <a:xfrm>
            <a:off x="22611872" y="35348670"/>
            <a:ext cx="1975669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97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sz="97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sz="97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sz="97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sz="97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97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97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97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97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r>
              <a:rPr lang="en-US" sz="1300" dirty="0">
                <a:solidFill>
                  <a:schemeClr val="bg1"/>
                </a:solidFill>
              </a:rPr>
              <a:t>www.postersession.com</a:t>
            </a:r>
          </a:p>
        </p:txBody>
      </p:sp>
      <p:sp>
        <p:nvSpPr>
          <p:cNvPr id="6" name="TextBox 1">
            <a:extLst>
              <a:ext uri="{FF2B5EF4-FFF2-40B4-BE49-F238E27FC236}">
                <a16:creationId xmlns:a16="http://schemas.microsoft.com/office/drawing/2014/main" id="{C7E6A034-93E0-421C-ACA5-B28573E1673A}"/>
              </a:ext>
            </a:extLst>
          </p:cNvPr>
          <p:cNvSpPr txBox="1"/>
          <p:nvPr userDrawn="1"/>
        </p:nvSpPr>
        <p:spPr>
          <a:xfrm>
            <a:off x="0" y="35876627"/>
            <a:ext cx="461986" cy="1231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97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sz="97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sz="97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sz="97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sz="97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97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97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97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97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r>
              <a:rPr lang="en-US" sz="200" dirty="0">
                <a:solidFill>
                  <a:srgbClr val="003064"/>
                </a:solidFill>
              </a:rPr>
              <a:t>www.postersession.com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97263" rtl="0" eaLnBrk="0" fontAlgn="base" hangingPunct="0">
        <a:spcBef>
          <a:spcPct val="0"/>
        </a:spcBef>
        <a:spcAft>
          <a:spcPct val="0"/>
        </a:spcAft>
        <a:defRPr sz="16800">
          <a:solidFill>
            <a:schemeClr val="tx2"/>
          </a:solidFill>
          <a:latin typeface="+mj-lt"/>
          <a:ea typeface="+mj-ea"/>
          <a:cs typeface="+mj-cs"/>
        </a:defRPr>
      </a:lvl1pPr>
      <a:lvl2pPr algn="ctr" defTabSz="3497263" rtl="0" eaLnBrk="0" fontAlgn="base" hangingPunct="0">
        <a:spcBef>
          <a:spcPct val="0"/>
        </a:spcBef>
        <a:spcAft>
          <a:spcPct val="0"/>
        </a:spcAft>
        <a:defRPr sz="16800">
          <a:solidFill>
            <a:schemeClr val="tx2"/>
          </a:solidFill>
          <a:latin typeface="Arial" charset="0"/>
        </a:defRPr>
      </a:lvl2pPr>
      <a:lvl3pPr algn="ctr" defTabSz="3497263" rtl="0" eaLnBrk="0" fontAlgn="base" hangingPunct="0">
        <a:spcBef>
          <a:spcPct val="0"/>
        </a:spcBef>
        <a:spcAft>
          <a:spcPct val="0"/>
        </a:spcAft>
        <a:defRPr sz="16800">
          <a:solidFill>
            <a:schemeClr val="tx2"/>
          </a:solidFill>
          <a:latin typeface="Arial" charset="0"/>
        </a:defRPr>
      </a:lvl3pPr>
      <a:lvl4pPr algn="ctr" defTabSz="3497263" rtl="0" eaLnBrk="0" fontAlgn="base" hangingPunct="0">
        <a:spcBef>
          <a:spcPct val="0"/>
        </a:spcBef>
        <a:spcAft>
          <a:spcPct val="0"/>
        </a:spcAft>
        <a:defRPr sz="16800">
          <a:solidFill>
            <a:schemeClr val="tx2"/>
          </a:solidFill>
          <a:latin typeface="Arial" charset="0"/>
        </a:defRPr>
      </a:lvl4pPr>
      <a:lvl5pPr algn="ctr" defTabSz="3497263" rtl="0" eaLnBrk="0" fontAlgn="base" hangingPunct="0">
        <a:spcBef>
          <a:spcPct val="0"/>
        </a:spcBef>
        <a:spcAft>
          <a:spcPct val="0"/>
        </a:spcAft>
        <a:defRPr sz="16800">
          <a:solidFill>
            <a:schemeClr val="tx2"/>
          </a:solidFill>
          <a:latin typeface="Arial" charset="0"/>
        </a:defRPr>
      </a:lvl5pPr>
      <a:lvl6pPr marL="457200" algn="ctr" defTabSz="3497263" rtl="0" fontAlgn="base">
        <a:spcBef>
          <a:spcPct val="0"/>
        </a:spcBef>
        <a:spcAft>
          <a:spcPct val="0"/>
        </a:spcAft>
        <a:defRPr sz="16800">
          <a:solidFill>
            <a:schemeClr val="tx2"/>
          </a:solidFill>
          <a:latin typeface="Arial" charset="0"/>
        </a:defRPr>
      </a:lvl6pPr>
      <a:lvl7pPr marL="914400" algn="ctr" defTabSz="3497263" rtl="0" fontAlgn="base">
        <a:spcBef>
          <a:spcPct val="0"/>
        </a:spcBef>
        <a:spcAft>
          <a:spcPct val="0"/>
        </a:spcAft>
        <a:defRPr sz="16800">
          <a:solidFill>
            <a:schemeClr val="tx2"/>
          </a:solidFill>
          <a:latin typeface="Arial" charset="0"/>
        </a:defRPr>
      </a:lvl7pPr>
      <a:lvl8pPr marL="1371600" algn="ctr" defTabSz="3497263" rtl="0" fontAlgn="base">
        <a:spcBef>
          <a:spcPct val="0"/>
        </a:spcBef>
        <a:spcAft>
          <a:spcPct val="0"/>
        </a:spcAft>
        <a:defRPr sz="16800">
          <a:solidFill>
            <a:schemeClr val="tx2"/>
          </a:solidFill>
          <a:latin typeface="Arial" charset="0"/>
        </a:defRPr>
      </a:lvl8pPr>
      <a:lvl9pPr marL="1828800" algn="ctr" defTabSz="3497263" rtl="0" fontAlgn="base">
        <a:spcBef>
          <a:spcPct val="0"/>
        </a:spcBef>
        <a:spcAft>
          <a:spcPct val="0"/>
        </a:spcAft>
        <a:defRPr sz="16800">
          <a:solidFill>
            <a:schemeClr val="tx2"/>
          </a:solidFill>
          <a:latin typeface="Arial" charset="0"/>
        </a:defRPr>
      </a:lvl9pPr>
    </p:titleStyle>
    <p:bodyStyle>
      <a:lvl1pPr marL="1311275" indent="-1311275" algn="l" defTabSz="3497263" rtl="0" eaLnBrk="0" fontAlgn="base" hangingPunct="0">
        <a:spcBef>
          <a:spcPct val="20000"/>
        </a:spcBef>
        <a:spcAft>
          <a:spcPct val="0"/>
        </a:spcAft>
        <a:buChar char="•"/>
        <a:defRPr sz="12300">
          <a:solidFill>
            <a:schemeClr val="tx1"/>
          </a:solidFill>
          <a:latin typeface="+mn-lt"/>
          <a:ea typeface="+mn-ea"/>
          <a:cs typeface="+mn-cs"/>
        </a:defRPr>
      </a:lvl1pPr>
      <a:lvl2pPr marL="2840038" indent="-1092200" algn="l" defTabSz="3497263" rtl="0" eaLnBrk="0" fontAlgn="base" hangingPunct="0">
        <a:spcBef>
          <a:spcPct val="20000"/>
        </a:spcBef>
        <a:spcAft>
          <a:spcPct val="0"/>
        </a:spcAft>
        <a:buChar char="–"/>
        <a:defRPr sz="10700">
          <a:solidFill>
            <a:schemeClr val="tx1"/>
          </a:solidFill>
          <a:latin typeface="+mn-lt"/>
        </a:defRPr>
      </a:lvl2pPr>
      <a:lvl3pPr marL="4370388" indent="-873125" algn="l" defTabSz="3497263" rtl="0" eaLnBrk="0" fontAlgn="base" hangingPunct="0">
        <a:spcBef>
          <a:spcPct val="20000"/>
        </a:spcBef>
        <a:spcAft>
          <a:spcPct val="0"/>
        </a:spcAft>
        <a:buChar char="•"/>
        <a:defRPr sz="9200">
          <a:solidFill>
            <a:schemeClr val="tx1"/>
          </a:solidFill>
          <a:latin typeface="+mn-lt"/>
        </a:defRPr>
      </a:lvl3pPr>
      <a:lvl4pPr marL="6118225" indent="-873125" algn="l" defTabSz="3497263" rtl="0" eaLnBrk="0" fontAlgn="base" hangingPunct="0">
        <a:spcBef>
          <a:spcPct val="20000"/>
        </a:spcBef>
        <a:spcAft>
          <a:spcPct val="0"/>
        </a:spcAft>
        <a:buChar char="–"/>
        <a:defRPr sz="7600">
          <a:solidFill>
            <a:schemeClr val="tx1"/>
          </a:solidFill>
          <a:latin typeface="+mn-lt"/>
        </a:defRPr>
      </a:lvl4pPr>
      <a:lvl5pPr marL="7867650" indent="-873125" algn="l" defTabSz="3497263" rtl="0" eaLnBrk="0" fontAlgn="base" hangingPunct="0">
        <a:spcBef>
          <a:spcPct val="20000"/>
        </a:spcBef>
        <a:spcAft>
          <a:spcPct val="0"/>
        </a:spcAft>
        <a:buChar char="»"/>
        <a:defRPr sz="7600">
          <a:solidFill>
            <a:schemeClr val="tx1"/>
          </a:solidFill>
          <a:latin typeface="+mn-lt"/>
        </a:defRPr>
      </a:lvl5pPr>
      <a:lvl6pPr marL="8324850" indent="-873125" algn="l" defTabSz="3497263" rtl="0" fontAlgn="base">
        <a:spcBef>
          <a:spcPct val="20000"/>
        </a:spcBef>
        <a:spcAft>
          <a:spcPct val="0"/>
        </a:spcAft>
        <a:buChar char="»"/>
        <a:defRPr sz="7600">
          <a:solidFill>
            <a:schemeClr val="tx1"/>
          </a:solidFill>
          <a:latin typeface="+mn-lt"/>
        </a:defRPr>
      </a:lvl6pPr>
      <a:lvl7pPr marL="8782050" indent="-873125" algn="l" defTabSz="3497263" rtl="0" fontAlgn="base">
        <a:spcBef>
          <a:spcPct val="20000"/>
        </a:spcBef>
        <a:spcAft>
          <a:spcPct val="0"/>
        </a:spcAft>
        <a:buChar char="»"/>
        <a:defRPr sz="7600">
          <a:solidFill>
            <a:schemeClr val="tx1"/>
          </a:solidFill>
          <a:latin typeface="+mn-lt"/>
        </a:defRPr>
      </a:lvl7pPr>
      <a:lvl8pPr marL="9239250" indent="-873125" algn="l" defTabSz="3497263" rtl="0" fontAlgn="base">
        <a:spcBef>
          <a:spcPct val="20000"/>
        </a:spcBef>
        <a:spcAft>
          <a:spcPct val="0"/>
        </a:spcAft>
        <a:buChar char="»"/>
        <a:defRPr sz="7600">
          <a:solidFill>
            <a:schemeClr val="tx1"/>
          </a:solidFill>
          <a:latin typeface="+mn-lt"/>
        </a:defRPr>
      </a:lvl8pPr>
      <a:lvl9pPr marL="9696450" indent="-873125" algn="l" defTabSz="3497263" rtl="0" fontAlgn="base">
        <a:spcBef>
          <a:spcPct val="20000"/>
        </a:spcBef>
        <a:spcAft>
          <a:spcPct val="0"/>
        </a:spcAft>
        <a:buChar char="»"/>
        <a:defRPr sz="76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3" Type="http://schemas.openxmlformats.org/officeDocument/2006/relationships/hyperlink" Target="https://www.postersession.com/order/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jpe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003064"/>
            </a:gs>
            <a:gs pos="50000">
              <a:schemeClr val="bg1"/>
            </a:gs>
            <a:gs pos="100000">
              <a:srgbClr val="003064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AutoShape 50"/>
          <p:cNvSpPr>
            <a:spLocks noChangeArrowheads="1"/>
          </p:cNvSpPr>
          <p:nvPr/>
        </p:nvSpPr>
        <p:spPr bwMode="auto">
          <a:xfrm>
            <a:off x="12849225" y="6697663"/>
            <a:ext cx="11857038" cy="28416250"/>
          </a:xfrm>
          <a:prstGeom prst="roundRect">
            <a:avLst>
              <a:gd name="adj" fmla="val 7000"/>
            </a:avLst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69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69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69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69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69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69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69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69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69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051" name="AutoShape 4"/>
          <p:cNvSpPr>
            <a:spLocks noChangeArrowheads="1"/>
          </p:cNvSpPr>
          <p:nvPr/>
        </p:nvSpPr>
        <p:spPr bwMode="auto">
          <a:xfrm>
            <a:off x="438150" y="6665913"/>
            <a:ext cx="11857038" cy="28417837"/>
          </a:xfrm>
          <a:prstGeom prst="roundRect">
            <a:avLst>
              <a:gd name="adj" fmla="val 7000"/>
            </a:avLst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69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69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69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69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69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69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69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69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69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052" name="Text Box 9"/>
          <p:cNvSpPr txBox="1">
            <a:spLocks noChangeArrowheads="1"/>
          </p:cNvSpPr>
          <p:nvPr/>
        </p:nvSpPr>
        <p:spPr bwMode="auto">
          <a:xfrm>
            <a:off x="604838" y="8488363"/>
            <a:ext cx="11434762" cy="172659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72850" tIns="36425" rIns="72850" bIns="36425">
            <a:spAutoFit/>
          </a:bodyPr>
          <a:lstStyle>
            <a:lvl1pPr defTabSz="3497263" eaLnBrk="0" hangingPunct="0">
              <a:defRPr sz="69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3497263" eaLnBrk="0" hangingPunct="0">
              <a:defRPr sz="69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3497263" eaLnBrk="0" hangingPunct="0">
              <a:defRPr sz="69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3497263" eaLnBrk="0" hangingPunct="0">
              <a:defRPr sz="69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3497263" eaLnBrk="0" hangingPunct="0">
              <a:defRPr sz="69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3497263" eaLnBrk="0" fontAlgn="base" hangingPunct="0">
              <a:spcBef>
                <a:spcPct val="0"/>
              </a:spcBef>
              <a:spcAft>
                <a:spcPct val="0"/>
              </a:spcAft>
              <a:defRPr sz="69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3497263" eaLnBrk="0" fontAlgn="base" hangingPunct="0">
              <a:spcBef>
                <a:spcPct val="0"/>
              </a:spcBef>
              <a:spcAft>
                <a:spcPct val="0"/>
              </a:spcAft>
              <a:defRPr sz="69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3497263" eaLnBrk="0" fontAlgn="base" hangingPunct="0">
              <a:spcBef>
                <a:spcPct val="0"/>
              </a:spcBef>
              <a:spcAft>
                <a:spcPct val="0"/>
              </a:spcAft>
              <a:defRPr sz="69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3497263" eaLnBrk="0" fontAlgn="base" hangingPunct="0">
              <a:spcBef>
                <a:spcPct val="0"/>
              </a:spcBef>
              <a:spcAft>
                <a:spcPct val="0"/>
              </a:spcAft>
              <a:defRPr sz="69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l">
              <a:lnSpc>
                <a:spcPct val="95000"/>
              </a:lnSpc>
            </a:pPr>
            <a:r>
              <a:rPr lang="en-US" altLang="en-US" sz="2400" dirty="0">
                <a:latin typeface="Times New Roman" pitchFamily="18" charset="0"/>
              </a:rPr>
              <a:t>Eyewitness accounts are expressed in words, but the evidence is an unlabelled collection of photographs, and bridging the two by hand is slow, subjective, and impractical as the gallery grows.</a:t>
            </a:r>
          </a:p>
          <a:p>
            <a:pPr algn="l">
              <a:lnSpc>
                <a:spcPct val="95000"/>
              </a:lnSpc>
            </a:pPr>
            <a:r>
              <a:rPr lang="en-US" altLang="en-US" sz="2400" dirty="0">
                <a:latin typeface="Times New Roman" pitchFamily="18" charset="0"/>
              </a:rPr>
              <a:t>Help Culprit Recognition closes this “semantic gap” with a fine-tuned vision-language model (CLIP), letting an investigator retrieve suspects from a gallery either by typing a natural-language description or by submitting a reference photograph.</a:t>
            </a:r>
          </a:p>
          <a:p>
            <a:pPr algn="l">
              <a:lnSpc>
                <a:spcPct val="95000"/>
              </a:lnSpc>
            </a:pPr>
            <a:r>
              <a:rPr lang="en-US" altLang="en-US" sz="2400" dirty="0">
                <a:latin typeface="Times New Roman" pitchFamily="18" charset="0"/>
              </a:rPr>
              <a:t>Every photograph is ranked by how well it matches the query, and the strongest candidates are presented with interpretable percentage scores as leads for human review — a decision-support tool, not an automated identification.</a:t>
            </a:r>
          </a:p>
          <a:p>
            <a:pPr algn="l">
              <a:lnSpc>
                <a:spcPct val="95000"/>
              </a:lnSpc>
            </a:pPr>
            <a:r>
              <a:rPr lang="en-US" altLang="en-US" sz="2400" dirty="0">
                <a:latin typeface="Times New Roman" pitchFamily="18" charset="0"/>
              </a:rPr>
              <a:t>Objectives: (1) text- and image-driven retrieval; (2) a CLIP model specialized for facial attributes; (3) interpretable results; (4) a secure, multi-user application; (5) a rigorous evaluation of the fine-tuning.</a:t>
            </a:r>
          </a:p>
        </p:txBody>
      </p:sp>
      <p:sp>
        <p:nvSpPr>
          <p:cNvPr id="2053" name="Text Box 10"/>
          <p:cNvSpPr txBox="1">
            <a:spLocks noChangeArrowheads="1"/>
          </p:cNvSpPr>
          <p:nvPr/>
        </p:nvSpPr>
        <p:spPr bwMode="auto">
          <a:xfrm>
            <a:off x="3149600" y="26154591"/>
            <a:ext cx="5645150" cy="1123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72850" tIns="36425" rIns="72850" bIns="36425">
            <a:spAutoFit/>
          </a:bodyPr>
          <a:lstStyle>
            <a:lvl1pPr defTabSz="3497263" eaLnBrk="0" hangingPunct="0">
              <a:defRPr sz="69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3497263" eaLnBrk="0" hangingPunct="0">
              <a:defRPr sz="69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3497263" eaLnBrk="0" hangingPunct="0">
              <a:defRPr sz="69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3497263" eaLnBrk="0" hangingPunct="0">
              <a:defRPr sz="69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3497263" eaLnBrk="0" hangingPunct="0">
              <a:defRPr sz="69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3497263" eaLnBrk="0" fontAlgn="base" hangingPunct="0">
              <a:spcBef>
                <a:spcPct val="0"/>
              </a:spcBef>
              <a:spcAft>
                <a:spcPct val="0"/>
              </a:spcAft>
              <a:defRPr sz="69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3497263" eaLnBrk="0" fontAlgn="base" hangingPunct="0">
              <a:spcBef>
                <a:spcPct val="0"/>
              </a:spcBef>
              <a:spcAft>
                <a:spcPct val="0"/>
              </a:spcAft>
              <a:defRPr sz="69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3497263" eaLnBrk="0" fontAlgn="base" hangingPunct="0">
              <a:spcBef>
                <a:spcPct val="0"/>
              </a:spcBef>
              <a:spcAft>
                <a:spcPct val="0"/>
              </a:spcAft>
              <a:defRPr sz="69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3497263" eaLnBrk="0" fontAlgn="base" hangingPunct="0">
              <a:spcBef>
                <a:spcPct val="0"/>
              </a:spcBef>
              <a:spcAft>
                <a:spcPct val="0"/>
              </a:spcAft>
              <a:defRPr sz="69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b="1" dirty="0"/>
              <a:t>Methods</a:t>
            </a:r>
          </a:p>
        </p:txBody>
      </p:sp>
      <p:sp>
        <p:nvSpPr>
          <p:cNvPr id="2054" name="Text Box 11"/>
          <p:cNvSpPr txBox="1">
            <a:spLocks noChangeArrowheads="1"/>
          </p:cNvSpPr>
          <p:nvPr/>
        </p:nvSpPr>
        <p:spPr bwMode="auto">
          <a:xfrm>
            <a:off x="15794038" y="26322338"/>
            <a:ext cx="5645150" cy="1123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72850" tIns="36425" rIns="72850" bIns="36425">
            <a:spAutoFit/>
          </a:bodyPr>
          <a:lstStyle>
            <a:lvl1pPr defTabSz="3497263" eaLnBrk="0" hangingPunct="0">
              <a:defRPr sz="69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3497263" eaLnBrk="0" hangingPunct="0">
              <a:defRPr sz="69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3497263" eaLnBrk="0" hangingPunct="0">
              <a:defRPr sz="69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3497263" eaLnBrk="0" hangingPunct="0">
              <a:defRPr sz="69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3497263" eaLnBrk="0" hangingPunct="0">
              <a:defRPr sz="69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3497263" eaLnBrk="0" fontAlgn="base" hangingPunct="0">
              <a:spcBef>
                <a:spcPct val="0"/>
              </a:spcBef>
              <a:spcAft>
                <a:spcPct val="0"/>
              </a:spcAft>
              <a:defRPr sz="69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3497263" eaLnBrk="0" fontAlgn="base" hangingPunct="0">
              <a:spcBef>
                <a:spcPct val="0"/>
              </a:spcBef>
              <a:spcAft>
                <a:spcPct val="0"/>
              </a:spcAft>
              <a:defRPr sz="69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3497263" eaLnBrk="0" fontAlgn="base" hangingPunct="0">
              <a:spcBef>
                <a:spcPct val="0"/>
              </a:spcBef>
              <a:spcAft>
                <a:spcPct val="0"/>
              </a:spcAft>
              <a:defRPr sz="69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3497263" eaLnBrk="0" fontAlgn="base" hangingPunct="0">
              <a:spcBef>
                <a:spcPct val="0"/>
              </a:spcBef>
              <a:spcAft>
                <a:spcPct val="0"/>
              </a:spcAft>
              <a:defRPr sz="69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b="1"/>
              <a:t>Conclusions</a:t>
            </a:r>
          </a:p>
        </p:txBody>
      </p:sp>
      <p:sp>
        <p:nvSpPr>
          <p:cNvPr id="2055" name="AutoShape 13"/>
          <p:cNvSpPr>
            <a:spLocks noChangeArrowheads="1"/>
          </p:cNvSpPr>
          <p:nvPr/>
        </p:nvSpPr>
        <p:spPr bwMode="auto">
          <a:xfrm>
            <a:off x="393700" y="830262"/>
            <a:ext cx="24414163" cy="5749925"/>
          </a:xfrm>
          <a:prstGeom prst="roundRect">
            <a:avLst>
              <a:gd name="adj" fmla="val 10870"/>
            </a:avLst>
          </a:prstGeom>
          <a:gradFill rotWithShape="1">
            <a:gsLst>
              <a:gs pos="0">
                <a:srgbClr val="A7C4FF"/>
              </a:gs>
              <a:gs pos="100000">
                <a:schemeClr val="bg1"/>
              </a:gs>
            </a:gsLst>
            <a:lin ang="5400000" scaled="1"/>
          </a:gra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72850" tIns="36425" rIns="72850" bIns="36425" anchor="ctr"/>
          <a:lstStyle>
            <a:lvl1pPr defTabSz="3497263" eaLnBrk="0" hangingPunct="0">
              <a:defRPr sz="69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3497263" eaLnBrk="0" hangingPunct="0">
              <a:defRPr sz="69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3497263" eaLnBrk="0" hangingPunct="0">
              <a:defRPr sz="69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3497263" eaLnBrk="0" hangingPunct="0">
              <a:defRPr sz="69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3497263" eaLnBrk="0" hangingPunct="0">
              <a:defRPr sz="69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3497263" eaLnBrk="0" fontAlgn="base" hangingPunct="0">
              <a:spcBef>
                <a:spcPct val="0"/>
              </a:spcBef>
              <a:spcAft>
                <a:spcPct val="0"/>
              </a:spcAft>
              <a:defRPr sz="69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3497263" eaLnBrk="0" fontAlgn="base" hangingPunct="0">
              <a:spcBef>
                <a:spcPct val="0"/>
              </a:spcBef>
              <a:spcAft>
                <a:spcPct val="0"/>
              </a:spcAft>
              <a:defRPr sz="69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3497263" eaLnBrk="0" fontAlgn="base" hangingPunct="0">
              <a:spcBef>
                <a:spcPct val="0"/>
              </a:spcBef>
              <a:spcAft>
                <a:spcPct val="0"/>
              </a:spcAft>
              <a:defRPr sz="69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3497263" eaLnBrk="0" fontAlgn="base" hangingPunct="0">
              <a:spcBef>
                <a:spcPct val="0"/>
              </a:spcBef>
              <a:spcAft>
                <a:spcPct val="0"/>
              </a:spcAft>
              <a:defRPr sz="69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endParaRPr lang="en-US" altLang="en-US">
              <a:solidFill>
                <a:schemeClr val="bg1"/>
              </a:solidFill>
            </a:endParaRPr>
          </a:p>
        </p:txBody>
      </p:sp>
      <p:sp>
        <p:nvSpPr>
          <p:cNvPr id="2056" name="Text Box 14"/>
          <p:cNvSpPr txBox="1">
            <a:spLocks noChangeArrowheads="1"/>
          </p:cNvSpPr>
          <p:nvPr/>
        </p:nvSpPr>
        <p:spPr bwMode="auto">
          <a:xfrm>
            <a:off x="831850" y="1458913"/>
            <a:ext cx="23495000" cy="40746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72850" tIns="36425" rIns="72850" bIns="36425">
            <a:spAutoFit/>
          </a:bodyPr>
          <a:lstStyle>
            <a:lvl1pPr defTabSz="3497263" eaLnBrk="0" hangingPunct="0">
              <a:defRPr sz="69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3497263" eaLnBrk="0" hangingPunct="0">
              <a:defRPr sz="69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3497263" eaLnBrk="0" hangingPunct="0">
              <a:defRPr sz="69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3497263" eaLnBrk="0" hangingPunct="0">
              <a:defRPr sz="69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3497263" eaLnBrk="0" hangingPunct="0">
              <a:defRPr sz="69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3497263" eaLnBrk="0" fontAlgn="base" hangingPunct="0">
              <a:spcBef>
                <a:spcPct val="0"/>
              </a:spcBef>
              <a:spcAft>
                <a:spcPct val="0"/>
              </a:spcAft>
              <a:defRPr sz="69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3497263" eaLnBrk="0" fontAlgn="base" hangingPunct="0">
              <a:spcBef>
                <a:spcPct val="0"/>
              </a:spcBef>
              <a:spcAft>
                <a:spcPct val="0"/>
              </a:spcAft>
              <a:defRPr sz="69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3497263" eaLnBrk="0" fontAlgn="base" hangingPunct="0">
              <a:spcBef>
                <a:spcPct val="0"/>
              </a:spcBef>
              <a:spcAft>
                <a:spcPct val="0"/>
              </a:spcAft>
              <a:defRPr sz="69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3497263" eaLnBrk="0" fontAlgn="base" hangingPunct="0">
              <a:spcBef>
                <a:spcPct val="0"/>
              </a:spcBef>
              <a:spcAft>
                <a:spcPct val="0"/>
              </a:spcAft>
              <a:defRPr sz="69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en-US" altLang="en-US" sz="10000" b="1" dirty="0"/>
              <a:t>Help Culprit Recognition</a:t>
            </a:r>
          </a:p>
          <a:p>
            <a:pPr algn="l" eaLnBrk="1" hangingPunct="1"/>
            <a:r>
              <a:rPr lang="en-US" altLang="en-US" sz="6000" b="1" dirty="0" err="1"/>
              <a:t>By: Ali Sayed, Wasim Abdelhalem, Adel Ahmed, Mohamed Mowaffak, Ahmed Zayed</a:t>
            </a:r>
            <a:r>
              <a:rPr lang="en-US" altLang="en-US" sz="6000" b="1" dirty="0"/>
              <a:t/>
            </a:r>
          </a:p>
          <a:p>
            <a:pPr algn="l" eaLnBrk="1" hangingPunct="1"/>
            <a:r>
              <a:rPr lang="en-US" altLang="en-US" sz="6000" b="1" dirty="0"/>
              <a:t>Supervised by: Dr. Fatma Mohamed    ·    T.A.: Shamia Abdallah Ahmed</a:t>
            </a:r>
          </a:p>
          <a:p>
            <a:pPr algn="l" eaLnBrk="1" hangingPunct="1"/>
            <a:r>
              <a:rPr lang="en-US" altLang="en-US" sz="4000" b="1" i="1" dirty="0"/>
              <a:t>Faculty of Computer and Information Sciences - Ain Shams University</a:t>
            </a:r>
            <a:endParaRPr lang="en-US" altLang="en-US" sz="7200" dirty="0"/>
          </a:p>
        </p:txBody>
      </p:sp>
      <p:sp>
        <p:nvSpPr>
          <p:cNvPr id="2058" name="Text Box 27"/>
          <p:cNvSpPr txBox="1">
            <a:spLocks noChangeArrowheads="1"/>
          </p:cNvSpPr>
          <p:nvPr/>
        </p:nvSpPr>
        <p:spPr bwMode="auto">
          <a:xfrm>
            <a:off x="16227425" y="30311725"/>
            <a:ext cx="4768850" cy="8651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72850" tIns="36425" rIns="72850" bIns="36425">
            <a:spAutoFit/>
          </a:bodyPr>
          <a:lstStyle>
            <a:lvl1pPr defTabSz="3497263" eaLnBrk="0" hangingPunct="0">
              <a:defRPr sz="69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3497263" eaLnBrk="0" hangingPunct="0">
              <a:defRPr sz="69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3497263" eaLnBrk="0" hangingPunct="0">
              <a:defRPr sz="69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3497263" eaLnBrk="0" hangingPunct="0">
              <a:defRPr sz="69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3497263" eaLnBrk="0" hangingPunct="0">
              <a:defRPr sz="69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3497263" eaLnBrk="0" fontAlgn="base" hangingPunct="0">
              <a:spcBef>
                <a:spcPct val="0"/>
              </a:spcBef>
              <a:spcAft>
                <a:spcPct val="0"/>
              </a:spcAft>
              <a:defRPr sz="69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3497263" eaLnBrk="0" fontAlgn="base" hangingPunct="0">
              <a:spcBef>
                <a:spcPct val="0"/>
              </a:spcBef>
              <a:spcAft>
                <a:spcPct val="0"/>
              </a:spcAft>
              <a:defRPr sz="69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3497263" eaLnBrk="0" fontAlgn="base" hangingPunct="0">
              <a:spcBef>
                <a:spcPct val="0"/>
              </a:spcBef>
              <a:spcAft>
                <a:spcPct val="0"/>
              </a:spcAft>
              <a:defRPr sz="69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3497263" eaLnBrk="0" fontAlgn="base" hangingPunct="0">
              <a:spcBef>
                <a:spcPct val="0"/>
              </a:spcBef>
              <a:spcAft>
                <a:spcPct val="0"/>
              </a:spcAft>
              <a:defRPr sz="69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5200"/>
              <a:t>Bibliography</a:t>
            </a:r>
          </a:p>
        </p:txBody>
      </p:sp>
      <p:sp>
        <p:nvSpPr>
          <p:cNvPr id="2059" name="Text Box 36"/>
          <p:cNvSpPr txBox="1">
            <a:spLocks noChangeArrowheads="1"/>
          </p:cNvSpPr>
          <p:nvPr/>
        </p:nvSpPr>
        <p:spPr bwMode="auto">
          <a:xfrm>
            <a:off x="714375" y="27656898"/>
            <a:ext cx="11010900" cy="6127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57150" cmpd="thinThick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48734" tIns="24366" rIns="48734" bIns="24366">
            <a:spAutoFit/>
          </a:bodyPr>
          <a:lstStyle>
            <a:lvl1pPr defTabSz="488950" eaLnBrk="0" hangingPunct="0">
              <a:defRPr sz="69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488950" eaLnBrk="0" hangingPunct="0">
              <a:defRPr sz="69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488950" eaLnBrk="0" hangingPunct="0">
              <a:defRPr sz="69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488950" eaLnBrk="0" hangingPunct="0">
              <a:defRPr sz="69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488950" eaLnBrk="0" hangingPunct="0">
              <a:defRPr sz="69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488950" eaLnBrk="0" fontAlgn="base" hangingPunct="0">
              <a:spcBef>
                <a:spcPct val="0"/>
              </a:spcBef>
              <a:spcAft>
                <a:spcPct val="0"/>
              </a:spcAft>
              <a:defRPr sz="69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488950" eaLnBrk="0" fontAlgn="base" hangingPunct="0">
              <a:spcBef>
                <a:spcPct val="0"/>
              </a:spcBef>
              <a:spcAft>
                <a:spcPct val="0"/>
              </a:spcAft>
              <a:defRPr sz="69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488950" eaLnBrk="0" fontAlgn="base" hangingPunct="0">
              <a:spcBef>
                <a:spcPct val="0"/>
              </a:spcBef>
              <a:spcAft>
                <a:spcPct val="0"/>
              </a:spcAft>
              <a:defRPr sz="69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488950" eaLnBrk="0" fontAlgn="base" hangingPunct="0">
              <a:spcBef>
                <a:spcPct val="0"/>
              </a:spcBef>
              <a:spcAft>
                <a:spcPct val="0"/>
              </a:spcAft>
              <a:defRPr sz="69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l">
              <a:lnSpc>
                <a:spcPct val="95000"/>
              </a:lnSpc>
            </a:pPr>
            <a:r>
              <a:rPr lang="en-US" altLang="en-US" sz="2500" dirty="0">
                <a:latin typeface="Times New Roman" pitchFamily="18" charset="0"/>
              </a:rPr>
              <a:t>Architecture: a React single-page interface, an ASP.NET Core 8 Web API, a MySQL database, and a dedicated Python FastAPI service running CLIP (ViT-B/32) on an NVIDIA GPU.</a:t>
            </a:r>
          </a:p>
          <a:p>
            <a:pPr algn="l">
              <a:lnSpc>
                <a:spcPct val="95000"/>
              </a:lnSpc>
            </a:pPr>
            <a:r>
              <a:rPr lang="en-US" altLang="en-US" sz="2500" dirty="0">
                <a:latin typeface="Times New Roman" pitchFamily="18" charset="0"/>
              </a:rPr>
              <a:t>Model: CLIP is fine-tuned on the CelebA dataset. Its 40 binary face attributes are converted into natural-language captions; transfer learning with partial layer freezing, the AdamW optimizer, and a symmetric contrastive loss then specializes the model.</a:t>
            </a:r>
          </a:p>
          <a:p>
            <a:pPr algn="l">
              <a:lnSpc>
                <a:spcPct val="95000"/>
              </a:lnSpc>
            </a:pPr>
            <a:r>
              <a:rPr lang="en-US" altLang="en-US" sz="2500" dirty="0">
                <a:latin typeface="Times New Roman" pitchFamily="18" charset="0"/>
              </a:rPr>
              <a:t>Retrieval: images and text are encoded into a shared 512-dimensional space; the gallery is ranked by cosine similarity (or Euclidean distance), and the top matches are returned with percentage scores.</a:t>
            </a:r>
          </a:p>
          <a:p>
            <a:pPr algn="l">
              <a:lnSpc>
                <a:spcPct val="95000"/>
              </a:lnSpc>
            </a:pPr>
            <a:r>
              <a:rPr lang="en-US" altLang="en-US" sz="2500" dirty="0">
                <a:latin typeface="Times New Roman" pitchFamily="18" charset="0"/>
              </a:rPr>
              <a:t>Evaluation: Recall@K — the fraction of queries whose correct image appears within the top K — measured identically on all nine training checkpoints over a 536-image set.</a:t>
            </a:r>
          </a:p>
        </p:txBody>
      </p:sp>
      <p:sp>
        <p:nvSpPr>
          <p:cNvPr id="2060" name="Text Box 38"/>
          <p:cNvSpPr txBox="1">
            <a:spLocks noChangeArrowheads="1"/>
          </p:cNvSpPr>
          <p:nvPr/>
        </p:nvSpPr>
        <p:spPr bwMode="auto">
          <a:xfrm>
            <a:off x="13276263" y="31577496"/>
            <a:ext cx="10612437" cy="35578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57150" cmpd="thinThick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48734" tIns="24366" rIns="48734" bIns="24366">
            <a:spAutoFit/>
          </a:bodyPr>
          <a:lstStyle>
            <a:lvl1pPr marL="273050" indent="-273050" defTabSz="488950" eaLnBrk="0" hangingPunct="0">
              <a:defRPr sz="6900">
                <a:solidFill>
                  <a:schemeClr val="tx1"/>
                </a:solidFill>
                <a:latin typeface="Arial" charset="0"/>
              </a:defRPr>
            </a:lvl1pPr>
            <a:lvl2pPr marL="517525" indent="-273050" defTabSz="488950" eaLnBrk="0" hangingPunct="0">
              <a:defRPr sz="6900">
                <a:solidFill>
                  <a:schemeClr val="tx1"/>
                </a:solidFill>
                <a:latin typeface="Arial" charset="0"/>
              </a:defRPr>
            </a:lvl2pPr>
            <a:lvl3pPr marL="762000" indent="-273050" defTabSz="488950" eaLnBrk="0" hangingPunct="0">
              <a:defRPr sz="6900">
                <a:solidFill>
                  <a:schemeClr val="tx1"/>
                </a:solidFill>
                <a:latin typeface="Arial" charset="0"/>
              </a:defRPr>
            </a:lvl3pPr>
            <a:lvl4pPr marL="1003300" indent="-273050" defTabSz="488950" eaLnBrk="0" hangingPunct="0">
              <a:defRPr sz="6900">
                <a:solidFill>
                  <a:schemeClr val="tx1"/>
                </a:solidFill>
                <a:latin typeface="Arial" charset="0"/>
              </a:defRPr>
            </a:lvl4pPr>
            <a:lvl5pPr marL="1247775" indent="-274638" defTabSz="488950" eaLnBrk="0" hangingPunct="0">
              <a:defRPr sz="6900">
                <a:solidFill>
                  <a:schemeClr val="tx1"/>
                </a:solidFill>
                <a:latin typeface="Arial" charset="0"/>
              </a:defRPr>
            </a:lvl5pPr>
            <a:lvl6pPr marL="1704975" indent="-274638" algn="ctr" defTabSz="488950" eaLnBrk="0" fontAlgn="base" hangingPunct="0">
              <a:spcBef>
                <a:spcPct val="0"/>
              </a:spcBef>
              <a:spcAft>
                <a:spcPct val="0"/>
              </a:spcAft>
              <a:defRPr sz="6900">
                <a:solidFill>
                  <a:schemeClr val="tx1"/>
                </a:solidFill>
                <a:latin typeface="Arial" charset="0"/>
              </a:defRPr>
            </a:lvl6pPr>
            <a:lvl7pPr marL="2162175" indent="-274638" algn="ctr" defTabSz="488950" eaLnBrk="0" fontAlgn="base" hangingPunct="0">
              <a:spcBef>
                <a:spcPct val="0"/>
              </a:spcBef>
              <a:spcAft>
                <a:spcPct val="0"/>
              </a:spcAft>
              <a:defRPr sz="6900">
                <a:solidFill>
                  <a:schemeClr val="tx1"/>
                </a:solidFill>
                <a:latin typeface="Arial" charset="0"/>
              </a:defRPr>
            </a:lvl7pPr>
            <a:lvl8pPr marL="2619375" indent="-274638" algn="ctr" defTabSz="488950" eaLnBrk="0" fontAlgn="base" hangingPunct="0">
              <a:spcBef>
                <a:spcPct val="0"/>
              </a:spcBef>
              <a:spcAft>
                <a:spcPct val="0"/>
              </a:spcAft>
              <a:defRPr sz="6900">
                <a:solidFill>
                  <a:schemeClr val="tx1"/>
                </a:solidFill>
                <a:latin typeface="Arial" charset="0"/>
              </a:defRPr>
            </a:lvl8pPr>
            <a:lvl9pPr marL="3076575" indent="-274638" algn="ctr" defTabSz="488950" eaLnBrk="0" fontAlgn="base" hangingPunct="0">
              <a:spcBef>
                <a:spcPct val="0"/>
              </a:spcBef>
              <a:spcAft>
                <a:spcPct val="0"/>
              </a:spcAft>
              <a:defRPr sz="69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l">
              <a:lnSpc>
                <a:spcPct val="95000"/>
              </a:lnSpc>
            </a:pPr>
            <a:r>
              <a:t>[1] Radford et al. Learning Transferable Visual Models From Natural Language Supervision (CLIP). ICML, 2021.</a:t>
            </a:r>
            <a:endParaRPr lang="en-US" altLang="en-US" sz="2400" b="1" u="sng" dirty="0">
              <a:latin typeface="Times New Roman" pitchFamily="18" charset="0"/>
            </a:endParaRPr>
          </a:p>
          <a:p>
            <a:pPr algn="l">
              <a:lnSpc>
                <a:spcPct val="95000"/>
              </a:lnSpc>
            </a:pPr>
            <a:r>
              <a:t>[2] Dosovitskiy et al. An Image is Worth 16x16 Words (ViT). ICLR, 2021.</a:t>
            </a:r>
            <a:endParaRPr lang="en-US" altLang="en-US" sz="2400" b="1" u="sng" dirty="0">
              <a:latin typeface="Times New Roman" pitchFamily="18" charset="0"/>
            </a:endParaRPr>
          </a:p>
          <a:p>
            <a:pPr algn="l">
              <a:lnSpc>
                <a:spcPct val="95000"/>
              </a:lnSpc>
            </a:pPr>
            <a:r>
              <a:t>[3] Liu et al. Deep Learning Face Attributes in the Wild (CelebA). ICCV, 2015.</a:t>
            </a:r>
            <a:endParaRPr lang="en-US" altLang="en-US" sz="2400" b="1" u="sng" dirty="0">
              <a:latin typeface="Times New Roman" pitchFamily="18" charset="0"/>
            </a:endParaRPr>
          </a:p>
          <a:p>
            <a:pPr algn="l">
              <a:lnSpc>
                <a:spcPct val="95000"/>
              </a:lnSpc>
            </a:pPr>
            <a:r>
              <a:t>[4] Vaswani et al. Attention Is All You Need. NeurIPS, 2017.</a:t>
            </a:r>
            <a:endParaRPr lang="en-US" altLang="en-US" sz="2400" b="1" u="sng" dirty="0">
              <a:latin typeface="Times New Roman" pitchFamily="18" charset="0"/>
            </a:endParaRPr>
          </a:p>
        </p:txBody>
      </p:sp>
      <p:sp>
        <p:nvSpPr>
          <p:cNvPr id="2061" name="Text Box 40"/>
          <p:cNvSpPr txBox="1">
            <a:spLocks noChangeArrowheads="1"/>
          </p:cNvSpPr>
          <p:nvPr/>
        </p:nvSpPr>
        <p:spPr bwMode="auto">
          <a:xfrm>
            <a:off x="13139738" y="27727275"/>
            <a:ext cx="11120437" cy="32069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57150" cmpd="thinThick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48734" tIns="24366" rIns="48734" bIns="24366">
            <a:spAutoFit/>
          </a:bodyPr>
          <a:lstStyle>
            <a:lvl1pPr defTabSz="488950" eaLnBrk="0" hangingPunct="0">
              <a:defRPr sz="69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488950" eaLnBrk="0" hangingPunct="0">
              <a:defRPr sz="69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488950" eaLnBrk="0" hangingPunct="0">
              <a:defRPr sz="69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488950" eaLnBrk="0" hangingPunct="0">
              <a:defRPr sz="69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488950" eaLnBrk="0" hangingPunct="0">
              <a:defRPr sz="69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488950" eaLnBrk="0" fontAlgn="base" hangingPunct="0">
              <a:spcBef>
                <a:spcPct val="0"/>
              </a:spcBef>
              <a:spcAft>
                <a:spcPct val="0"/>
              </a:spcAft>
              <a:defRPr sz="69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488950" eaLnBrk="0" fontAlgn="base" hangingPunct="0">
              <a:spcBef>
                <a:spcPct val="0"/>
              </a:spcBef>
              <a:spcAft>
                <a:spcPct val="0"/>
              </a:spcAft>
              <a:defRPr sz="69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488950" eaLnBrk="0" fontAlgn="base" hangingPunct="0">
              <a:spcBef>
                <a:spcPct val="0"/>
              </a:spcBef>
              <a:spcAft>
                <a:spcPct val="0"/>
              </a:spcAft>
              <a:defRPr sz="69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488950" eaLnBrk="0" fontAlgn="base" hangingPunct="0">
              <a:spcBef>
                <a:spcPct val="0"/>
              </a:spcBef>
              <a:spcAft>
                <a:spcPct val="0"/>
              </a:spcAft>
              <a:defRPr sz="69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l">
              <a:lnSpc>
                <a:spcPct val="95000"/>
              </a:lnSpc>
            </a:pPr>
            <a:r>
              <a:rPr lang="en-US" altLang="en-US" sz="2400" dirty="0">
                <a:latin typeface="Times New Roman" pitchFamily="18" charset="0"/>
              </a:rPr>
              <a:t>The project delivers a complete, secure, multi-user forensic retrieval system driven by both text and image queries, with a fine-tuned CLIP model at its core.</a:t>
            </a:r>
          </a:p>
          <a:p>
            <a:pPr algn="l">
              <a:lnSpc>
                <a:spcPct val="95000"/>
              </a:lnSpc>
            </a:pPr>
            <a:r>
              <a:rPr lang="en-US" altLang="en-US" sz="2400" dirty="0">
                <a:latin typeface="Times New Roman" pitchFamily="18" charset="0"/>
              </a:rPr>
              <a:t>A rigorous evaluation on the project’s own checkpoints shows that fine-tuning doubles top-1 retrieval accuracy and identifies epoch 6 as the optimal stopping point before overfitting.</a:t>
            </a:r>
          </a:p>
          <a:p>
            <a:pPr algn="l">
              <a:lnSpc>
                <a:spcPct val="95000"/>
              </a:lnSpc>
            </a:pPr>
            <a:r>
              <a:rPr lang="en-US" altLang="en-US" sz="2400" dirty="0">
                <a:latin typeface="Times New Roman" pitchFamily="18" charset="0"/>
              </a:rPr>
              <a:t>The outcome is both a working system and defensible evidence of when and how much fine-tuning helps — a practical investigative aid that meaningfully reduces manual effort.</a:t>
            </a:r>
          </a:p>
        </p:txBody>
      </p:sp>
      <p:sp>
        <p:nvSpPr>
          <p:cNvPr id="2062" name="Text Box 42"/>
          <p:cNvSpPr txBox="1">
            <a:spLocks noChangeArrowheads="1"/>
          </p:cNvSpPr>
          <p:nvPr/>
        </p:nvSpPr>
        <p:spPr bwMode="auto">
          <a:xfrm>
            <a:off x="3368675" y="7165975"/>
            <a:ext cx="5645150" cy="1123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72850" tIns="36425" rIns="72850" bIns="36425">
            <a:spAutoFit/>
          </a:bodyPr>
          <a:lstStyle>
            <a:lvl1pPr defTabSz="3497263" eaLnBrk="0" hangingPunct="0">
              <a:defRPr sz="69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3497263" eaLnBrk="0" hangingPunct="0">
              <a:defRPr sz="69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3497263" eaLnBrk="0" hangingPunct="0">
              <a:defRPr sz="69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3497263" eaLnBrk="0" hangingPunct="0">
              <a:defRPr sz="69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3497263" eaLnBrk="0" hangingPunct="0">
              <a:defRPr sz="69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3497263" eaLnBrk="0" fontAlgn="base" hangingPunct="0">
              <a:spcBef>
                <a:spcPct val="0"/>
              </a:spcBef>
              <a:spcAft>
                <a:spcPct val="0"/>
              </a:spcAft>
              <a:defRPr sz="69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3497263" eaLnBrk="0" fontAlgn="base" hangingPunct="0">
              <a:spcBef>
                <a:spcPct val="0"/>
              </a:spcBef>
              <a:spcAft>
                <a:spcPct val="0"/>
              </a:spcAft>
              <a:defRPr sz="69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3497263" eaLnBrk="0" fontAlgn="base" hangingPunct="0">
              <a:spcBef>
                <a:spcPct val="0"/>
              </a:spcBef>
              <a:spcAft>
                <a:spcPct val="0"/>
              </a:spcAft>
              <a:defRPr sz="69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3497263" eaLnBrk="0" fontAlgn="base" hangingPunct="0">
              <a:spcBef>
                <a:spcPct val="0"/>
              </a:spcBef>
              <a:spcAft>
                <a:spcPct val="0"/>
              </a:spcAft>
              <a:defRPr sz="69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b="1" dirty="0"/>
              <a:t>Introduction</a:t>
            </a:r>
          </a:p>
        </p:txBody>
      </p:sp>
      <p:sp>
        <p:nvSpPr>
          <p:cNvPr id="2063" name="Text Box 43"/>
          <p:cNvSpPr txBox="1">
            <a:spLocks noChangeArrowheads="1"/>
          </p:cNvSpPr>
          <p:nvPr/>
        </p:nvSpPr>
        <p:spPr bwMode="auto">
          <a:xfrm>
            <a:off x="15794038" y="7178675"/>
            <a:ext cx="5645150" cy="1123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72850" tIns="36425" rIns="72850" bIns="36425">
            <a:spAutoFit/>
          </a:bodyPr>
          <a:lstStyle>
            <a:lvl1pPr defTabSz="3497263" eaLnBrk="0" hangingPunct="0">
              <a:defRPr sz="69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3497263" eaLnBrk="0" hangingPunct="0">
              <a:defRPr sz="69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3497263" eaLnBrk="0" hangingPunct="0">
              <a:defRPr sz="69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3497263" eaLnBrk="0" hangingPunct="0">
              <a:defRPr sz="69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3497263" eaLnBrk="0" hangingPunct="0">
              <a:defRPr sz="69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3497263" eaLnBrk="0" fontAlgn="base" hangingPunct="0">
              <a:spcBef>
                <a:spcPct val="0"/>
              </a:spcBef>
              <a:spcAft>
                <a:spcPct val="0"/>
              </a:spcAft>
              <a:defRPr sz="69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3497263" eaLnBrk="0" fontAlgn="base" hangingPunct="0">
              <a:spcBef>
                <a:spcPct val="0"/>
              </a:spcBef>
              <a:spcAft>
                <a:spcPct val="0"/>
              </a:spcAft>
              <a:defRPr sz="69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3497263" eaLnBrk="0" fontAlgn="base" hangingPunct="0">
              <a:spcBef>
                <a:spcPct val="0"/>
              </a:spcBef>
              <a:spcAft>
                <a:spcPct val="0"/>
              </a:spcAft>
              <a:defRPr sz="69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3497263" eaLnBrk="0" fontAlgn="base" hangingPunct="0">
              <a:spcBef>
                <a:spcPct val="0"/>
              </a:spcBef>
              <a:spcAft>
                <a:spcPct val="0"/>
              </a:spcAft>
              <a:defRPr sz="69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b="1" dirty="0"/>
              <a:t>Results</a:t>
            </a:r>
          </a:p>
        </p:txBody>
      </p:sp>
      <p:sp>
        <p:nvSpPr>
          <p:cNvPr id="2065" name="Text Box 19"/>
          <p:cNvSpPr txBox="1">
            <a:spLocks noChangeArrowheads="1"/>
          </p:cNvSpPr>
          <p:nvPr/>
        </p:nvSpPr>
        <p:spPr bwMode="auto">
          <a:xfrm>
            <a:off x="13276263" y="14735175"/>
            <a:ext cx="11050587" cy="26776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533400" indent="-533400" defTabSz="4389438" eaLnBrk="0" hangingPunct="0">
              <a:defRPr sz="69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4389438" eaLnBrk="0" hangingPunct="0">
              <a:defRPr sz="69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4389438" eaLnBrk="0" hangingPunct="0">
              <a:defRPr sz="69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4389438" eaLnBrk="0" hangingPunct="0">
              <a:defRPr sz="69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4389438" eaLnBrk="0" hangingPunct="0">
              <a:defRPr sz="69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4389438" eaLnBrk="0" fontAlgn="base" hangingPunct="0">
              <a:spcBef>
                <a:spcPct val="0"/>
              </a:spcBef>
              <a:spcAft>
                <a:spcPct val="0"/>
              </a:spcAft>
              <a:defRPr sz="69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4389438" eaLnBrk="0" fontAlgn="base" hangingPunct="0">
              <a:spcBef>
                <a:spcPct val="0"/>
              </a:spcBef>
              <a:spcAft>
                <a:spcPct val="0"/>
              </a:spcAft>
              <a:defRPr sz="69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4389438" eaLnBrk="0" fontAlgn="base" hangingPunct="0">
              <a:spcBef>
                <a:spcPct val="0"/>
              </a:spcBef>
              <a:spcAft>
                <a:spcPct val="0"/>
              </a:spcAft>
              <a:defRPr sz="69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4389438" eaLnBrk="0" fontAlgn="base" hangingPunct="0">
              <a:spcBef>
                <a:spcPct val="0"/>
              </a:spcBef>
              <a:spcAft>
                <a:spcPct val="0"/>
              </a:spcAft>
              <a:defRPr sz="69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l" eaLnBrk="1" hangingPunct="1">
              <a:lnSpc>
                <a:spcPct val="80000"/>
              </a:lnSpc>
              <a:spcBef>
                <a:spcPct val="50000"/>
              </a:spcBef>
              <a:buFont typeface="Arial" charset="0"/>
              <a:buChar char="•"/>
            </a:pPr>
            <a:r>
              <a:rPr lang="en-US" altLang="en-US" sz="2800" dirty="0"/>
              <a:t>Fine-tuning roughly doubles top-1 accuracy: Recall@1 rises from 3.73% (baseline) to 7.46%.</a:t>
            </a:r>
          </a:p>
          <a:p>
            <a:pPr algn="l" eaLnBrk="1" hangingPunct="1">
              <a:lnSpc>
                <a:spcPct val="80000"/>
              </a:lnSpc>
              <a:spcBef>
                <a:spcPct val="50000"/>
              </a:spcBef>
              <a:buFont typeface="Arial" charset="0"/>
              <a:buChar char="•"/>
            </a:pPr>
            <a:r>
              <a:rPr lang="en-US" altLang="en-US" sz="2800" dirty="0"/>
              <a:t>Recall@1 peaks at epoch 6, then declines through epochs 7–8 — the clear onset of overfitting.</a:t>
            </a:r>
          </a:p>
          <a:p>
            <a:pPr algn="l" eaLnBrk="1" hangingPunct="1">
              <a:lnSpc>
                <a:spcPct val="80000"/>
              </a:lnSpc>
              <a:spcBef>
                <a:spcPct val="50000"/>
              </a:spcBef>
              <a:buFont typeface="Arial" charset="0"/>
              <a:buChar char="•"/>
            </a:pPr>
            <a:r>
              <a:rPr lang="en-US" altLang="en-US" sz="2800" dirty="0"/>
              <a:t>Recall@5 reaches about 21% and Recall@10 about 31%, versus a random-chance Recall@1 of only 0.19%.</a:t>
            </a:r>
          </a:p>
          <a:p>
            <a:pPr algn="l" eaLnBrk="1" hangingPunct="1">
              <a:lnSpc>
                <a:spcPct val="80000"/>
              </a:lnSpc>
              <a:spcBef>
                <a:spcPct val="50000"/>
              </a:spcBef>
              <a:buFont typeface="Arial" charset="0"/>
              <a:buChar char="•"/>
            </a:pPr>
            <a:r>
              <a:rPr lang="en-US" altLang="en-US" sz="2800" dirty="0"/>
              <a:t>Every fine-tuned checkpoint beats the pre-trained baseline on every metric.</a:t>
            </a:r>
          </a:p>
          <a:p>
            <a:pPr algn="l" eaLnBrk="1" hangingPunct="1">
              <a:lnSpc>
                <a:spcPct val="80000"/>
              </a:lnSpc>
              <a:spcBef>
                <a:spcPct val="50000"/>
              </a:spcBef>
              <a:buFont typeface="Arial" charset="0"/>
              <a:buChar char="•"/>
            </a:pPr>
            <a:r>
              <a:rPr lang="en-US" altLang="en-US" sz="2800" dirty="0"/>
              <a:t>GPU inference (RTX 3060) encodes about 400 images per second, making large-gallery indexing practical.</a:t>
            </a:r>
          </a:p>
        </p:txBody>
      </p:sp>
      <p:sp>
        <p:nvSpPr>
          <p:cNvPr id="2066" name="Text Box 19">
            <a:hlinkClick r:id="rId3"/>
          </p:cNvPr>
          <p:cNvSpPr txBox="1">
            <a:spLocks noChangeArrowheads="1"/>
          </p:cNvSpPr>
          <p:nvPr/>
        </p:nvSpPr>
        <p:spPr bwMode="auto">
          <a:xfrm>
            <a:off x="0" y="36433125"/>
            <a:ext cx="25201563" cy="1014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defTabSz="4389438" eaLnBrk="0" hangingPunct="0">
              <a:defRPr sz="69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4389438" eaLnBrk="0" hangingPunct="0">
              <a:defRPr sz="69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4389438" eaLnBrk="0" hangingPunct="0">
              <a:defRPr sz="69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4389438" eaLnBrk="0" hangingPunct="0">
              <a:defRPr sz="69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4389438" eaLnBrk="0" hangingPunct="0">
              <a:defRPr sz="69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4389438" eaLnBrk="0" fontAlgn="base" hangingPunct="0">
              <a:spcBef>
                <a:spcPct val="0"/>
              </a:spcBef>
              <a:spcAft>
                <a:spcPct val="0"/>
              </a:spcAft>
              <a:defRPr sz="69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4389438" eaLnBrk="0" fontAlgn="base" hangingPunct="0">
              <a:spcBef>
                <a:spcPct val="0"/>
              </a:spcBef>
              <a:spcAft>
                <a:spcPct val="0"/>
              </a:spcAft>
              <a:defRPr sz="69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4389438" eaLnBrk="0" fontAlgn="base" hangingPunct="0">
              <a:spcBef>
                <a:spcPct val="0"/>
              </a:spcBef>
              <a:spcAft>
                <a:spcPct val="0"/>
              </a:spcAft>
              <a:defRPr sz="69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4389438" eaLnBrk="0" fontAlgn="base" hangingPunct="0">
              <a:spcBef>
                <a:spcPct val="0"/>
              </a:spcBef>
              <a:spcAft>
                <a:spcPct val="0"/>
              </a:spcAft>
              <a:defRPr sz="69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6000" b="1" i="1">
                <a:solidFill>
                  <a:srgbClr val="0046D2"/>
                </a:solidFill>
              </a:rPr>
              <a:t>Help Culprit Recognition   ·   Graduation Project   ·   Department of Information Systems   ·   Ain Shams University   ·   2025 / 2026</a:t>
            </a:r>
          </a:p>
        </p:txBody>
      </p:sp>
      <p:pic>
        <p:nvPicPr>
          <p:cNvPr id="2067" name="Picture 2" descr="poster from our template">
            <a:hlinkClick r:id="rId3"/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23975" y="7842250"/>
            <a:ext cx="4191000" cy="417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68" name="Picture 25">
            <a:hlinkClick r:id="rId3"/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787"/>
          <a:stretch>
            <a:fillRect/>
          </a:stretch>
        </p:blipFill>
        <p:spPr bwMode="auto">
          <a:xfrm>
            <a:off x="18241963" y="8972550"/>
            <a:ext cx="4737100" cy="4073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DB6BBF59-5462-E614-6979-4597F5D89A6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80059565"/>
              </p:ext>
            </p:extLst>
          </p:nvPr>
        </p:nvGraphicFramePr>
        <p:xfrm>
          <a:off x="13375217" y="18366105"/>
          <a:ext cx="9733492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3373">
                  <a:extLst>
                    <a:ext uri="{9D8B030D-6E8A-4147-A177-3AD203B41FA5}">
                      <a16:colId xmlns:a16="http://schemas.microsoft.com/office/drawing/2014/main" val="2569859845"/>
                    </a:ext>
                  </a:extLst>
                </a:gridCol>
                <a:gridCol w="2433373">
                  <a:extLst>
                    <a:ext uri="{9D8B030D-6E8A-4147-A177-3AD203B41FA5}">
                      <a16:colId xmlns:a16="http://schemas.microsoft.com/office/drawing/2014/main" val="1711718782"/>
                    </a:ext>
                  </a:extLst>
                </a:gridCol>
                <a:gridCol w="2433373">
                  <a:extLst>
                    <a:ext uri="{9D8B030D-6E8A-4147-A177-3AD203B41FA5}">
                      <a16:colId xmlns:a16="http://schemas.microsoft.com/office/drawing/2014/main" val="568955502"/>
                    </a:ext>
                  </a:extLst>
                </a:gridCol>
                <a:gridCol w="2433373">
                  <a:extLst>
                    <a:ext uri="{9D8B030D-6E8A-4147-A177-3AD203B41FA5}">
                      <a16:colId xmlns:a16="http://schemas.microsoft.com/office/drawing/2014/main" val="27347622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Checkpoint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Recall@1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Recall@5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Recall@10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00714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500" dirty="0"/>
                        <a:t>Epoch 0  (baseline)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500" dirty="0"/>
                        <a:t>3.73 %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500" dirty="0"/>
                        <a:t>13.25 %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500" dirty="0"/>
                        <a:t>21.08 %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288495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500" dirty="0"/>
                        <a:t>Epoch 6  (best)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500" dirty="0"/>
                        <a:t>7.46 %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500" dirty="0"/>
                        <a:t>21.08 %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500" dirty="0"/>
                        <a:t>30.60 %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65047190"/>
                  </a:ext>
                </a:extLst>
              </a:tr>
            </a:tbl>
          </a:graphicData>
        </a:graphic>
      </p:graphicFrame>
      <p:sp>
        <p:nvSpPr>
          <p:cNvPr id="3" name="Text Box 19">
            <a:extLst>
              <a:ext uri="{FF2B5EF4-FFF2-40B4-BE49-F238E27FC236}">
                <a16:creationId xmlns:a16="http://schemas.microsoft.com/office/drawing/2014/main" id="{8D53FFB1-D23F-D80B-87BD-F87D483130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375217" y="17766253"/>
            <a:ext cx="11050587" cy="4370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533400" indent="-533400" defTabSz="4389438" eaLnBrk="0" hangingPunct="0">
              <a:defRPr sz="69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4389438" eaLnBrk="0" hangingPunct="0">
              <a:defRPr sz="69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4389438" eaLnBrk="0" hangingPunct="0">
              <a:defRPr sz="69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4389438" eaLnBrk="0" hangingPunct="0">
              <a:defRPr sz="69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4389438" eaLnBrk="0" hangingPunct="0">
              <a:defRPr sz="69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4389438" eaLnBrk="0" fontAlgn="base" hangingPunct="0">
              <a:spcBef>
                <a:spcPct val="0"/>
              </a:spcBef>
              <a:spcAft>
                <a:spcPct val="0"/>
              </a:spcAft>
              <a:defRPr sz="69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4389438" eaLnBrk="0" fontAlgn="base" hangingPunct="0">
              <a:spcBef>
                <a:spcPct val="0"/>
              </a:spcBef>
              <a:spcAft>
                <a:spcPct val="0"/>
              </a:spcAft>
              <a:defRPr sz="69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4389438" eaLnBrk="0" fontAlgn="base" hangingPunct="0">
              <a:spcBef>
                <a:spcPct val="0"/>
              </a:spcBef>
              <a:spcAft>
                <a:spcPct val="0"/>
              </a:spcAft>
              <a:defRPr sz="69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4389438" eaLnBrk="0" fontAlgn="base" hangingPunct="0">
              <a:spcBef>
                <a:spcPct val="0"/>
              </a:spcBef>
              <a:spcAft>
                <a:spcPct val="0"/>
              </a:spcAft>
              <a:defRPr sz="6900"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indent="0" algn="l" eaLnBrk="1" hangingPunct="1">
              <a:lnSpc>
                <a:spcPct val="80000"/>
              </a:lnSpc>
              <a:spcBef>
                <a:spcPct val="50000"/>
              </a:spcBef>
            </a:pPr>
            <a:r>
              <a:rPr lang="en-US" altLang="en-US" sz="2800" dirty="0"/>
              <a:t>Table 1. Recall@K of the best checkpoints versus the pre-trained baseline.</a:t>
            </a:r>
          </a:p>
        </p:txBody>
      </p:sp>
      <p:sp>
        <p:nvSpPr>
          <p:cNvPr id="4" name="Text Box 19">
            <a:extLst>
              <a:ext uri="{FF2B5EF4-FFF2-40B4-BE49-F238E27FC236}">
                <a16:creationId xmlns:a16="http://schemas.microsoft.com/office/drawing/2014/main" id="{357BC45E-4094-98B3-440B-A3A562CDEF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222024" y="13376683"/>
            <a:ext cx="11050587" cy="4370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533400" indent="-533400" defTabSz="4389438" eaLnBrk="0" hangingPunct="0">
              <a:defRPr sz="69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4389438" eaLnBrk="0" hangingPunct="0">
              <a:defRPr sz="69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4389438" eaLnBrk="0" hangingPunct="0">
              <a:defRPr sz="69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4389438" eaLnBrk="0" hangingPunct="0">
              <a:defRPr sz="69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4389438" eaLnBrk="0" hangingPunct="0">
              <a:defRPr sz="69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4389438" eaLnBrk="0" fontAlgn="base" hangingPunct="0">
              <a:spcBef>
                <a:spcPct val="0"/>
              </a:spcBef>
              <a:spcAft>
                <a:spcPct val="0"/>
              </a:spcAft>
              <a:defRPr sz="69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4389438" eaLnBrk="0" fontAlgn="base" hangingPunct="0">
              <a:spcBef>
                <a:spcPct val="0"/>
              </a:spcBef>
              <a:spcAft>
                <a:spcPct val="0"/>
              </a:spcAft>
              <a:defRPr sz="69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4389438" eaLnBrk="0" fontAlgn="base" hangingPunct="0">
              <a:spcBef>
                <a:spcPct val="0"/>
              </a:spcBef>
              <a:spcAft>
                <a:spcPct val="0"/>
              </a:spcAft>
              <a:defRPr sz="69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4389438" eaLnBrk="0" fontAlgn="base" hangingPunct="0">
              <a:spcBef>
                <a:spcPct val="0"/>
              </a:spcBef>
              <a:spcAft>
                <a:spcPct val="0"/>
              </a:spcAft>
              <a:defRPr sz="6900"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indent="0" algn="l" eaLnBrk="1" hangingPunct="1">
              <a:lnSpc>
                <a:spcPct val="80000"/>
              </a:lnSpc>
              <a:spcBef>
                <a:spcPct val="50000"/>
              </a:spcBef>
            </a:pPr>
            <a:r>
              <a:rPr lang="en-US" altLang="en-US" sz="2800" dirty="0"/>
              <a:t>Figure 1. Recall@K versus fine-tuning epoch — the learning curve peaks at epoch 6.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38BCAE8-E908-F27C-C5FD-D605F1D54CD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935542" y="1586207"/>
            <a:ext cx="4324633" cy="394736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3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3064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bg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3497263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69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bg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3497263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69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3064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214</TotalTime>
  <Words>637</Words>
  <Application>Microsoft Office PowerPoint</Application>
  <PresentationFormat>Custom</PresentationFormat>
  <Paragraphs>52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Symbol</vt:lpstr>
      <vt:lpstr>Times New Roman</vt:lpstr>
      <vt:lpstr>Default Design</vt:lpstr>
      <vt:lpstr>PowerPoint Presentation</vt:lpstr>
    </vt:vector>
  </TitlesOfParts>
  <Company>MegaPrint Inc.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70x100 cm vertical poster template</dc:title>
  <dc:creator>Ethan Shulda;www.postersession.com</dc:creator>
  <cp:keywords>www.postersession.com</cp:keywords>
  <dc:description>©MegaPrint Inc. 2009-2015</dc:description>
  <cp:lastModifiedBy>Dr. Manal Tantawy</cp:lastModifiedBy>
  <cp:revision>33</cp:revision>
  <dcterms:created xsi:type="dcterms:W3CDTF">2008-12-04T00:20:37Z</dcterms:created>
  <dcterms:modified xsi:type="dcterms:W3CDTF">2026-05-25T11:31:22Z</dcterms:modified>
</cp:coreProperties>
</file>