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Recall@1</c:v>
                </c:pt>
              </c:strCache>
            </c:strRef>
          </c:tx>
          <c:spPr>
            <a:solidFill>
              <a:srgbClr val="2E8BC0"/>
            </a:solidFill>
            <a:ln w="38100" cap="flat">
              <a:solidFill>
                <a:srgbClr val="2E8BC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8BC0"/>
              </a:solidFill>
              <a:ln w="9525" cap="flat">
                <a:solidFill>
                  <a:srgbClr val="2E8BC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3.73</c:v>
                </c:pt>
                <c:pt idx="1">
                  <c:v>5.6</c:v>
                </c:pt>
                <c:pt idx="2">
                  <c:v>6.34</c:v>
                </c:pt>
                <c:pt idx="3">
                  <c:v>6.16</c:v>
                </c:pt>
                <c:pt idx="4">
                  <c:v>6.72</c:v>
                </c:pt>
                <c:pt idx="5">
                  <c:v>6.72</c:v>
                </c:pt>
                <c:pt idx="6">
                  <c:v>7.46</c:v>
                </c:pt>
                <c:pt idx="7">
                  <c:v>6.53</c:v>
                </c:pt>
                <c:pt idx="8">
                  <c:v>6.34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Recall@5</c:v>
                </c:pt>
              </c:strCache>
            </c:strRef>
          </c:tx>
          <c:spPr>
            <a:solidFill>
              <a:srgbClr val="0F3460"/>
            </a:solidFill>
            <a:ln w="38100" cap="flat">
              <a:solidFill>
                <a:srgbClr val="0F346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3460"/>
              </a:solidFill>
              <a:ln w="9525" cap="flat">
                <a:solidFill>
                  <a:srgbClr val="0F346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13.25</c:v>
                </c:pt>
                <c:pt idx="1">
                  <c:v>20.9</c:v>
                </c:pt>
                <c:pt idx="2">
                  <c:v>20.71</c:v>
                </c:pt>
                <c:pt idx="3">
                  <c:v>20.52</c:v>
                </c:pt>
                <c:pt idx="4">
                  <c:v>21.08</c:v>
                </c:pt>
                <c:pt idx="5">
                  <c:v>20.71</c:v>
                </c:pt>
                <c:pt idx="6">
                  <c:v>21.08</c:v>
                </c:pt>
                <c:pt idx="7">
                  <c:v>19.96</c:v>
                </c:pt>
                <c:pt idx="8">
                  <c:v>20.15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Recall@10</c:v>
                </c:pt>
              </c:strCache>
            </c:strRef>
          </c:tx>
          <c:spPr>
            <a:solidFill>
              <a:srgbClr val="D2783C"/>
            </a:solidFill>
            <a:ln w="38100" cap="flat">
              <a:solidFill>
                <a:srgbClr val="D278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2783C"/>
              </a:solidFill>
              <a:ln w="9525" cap="flat">
                <a:solidFill>
                  <a:srgbClr val="D278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21.08</c:v>
                </c:pt>
                <c:pt idx="1">
                  <c:v>31.72</c:v>
                </c:pt>
                <c:pt idx="2">
                  <c:v>31.34</c:v>
                </c:pt>
                <c:pt idx="3">
                  <c:v>29.85</c:v>
                </c:pt>
                <c:pt idx="4">
                  <c:v>29.85</c:v>
                </c:pt>
                <c:pt idx="5">
                  <c:v>29.1</c:v>
                </c:pt>
                <c:pt idx="6">
                  <c:v>30.6</c:v>
                </c:pt>
                <c:pt idx="7">
                  <c:v>29.66</c:v>
                </c:pt>
                <c:pt idx="8">
                  <c:v>29.66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Training epoch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Recall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Epoch 0 (baseline)</c:v>
                </c:pt>
              </c:strCache>
            </c:strRef>
          </c:tx>
          <c:spPr>
            <a:solidFill>
              <a:srgbClr val="9AA8B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2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Recall@1</c:v>
                  </c:pt>
                  <c:pt idx="1">
                    <c:v>Recall@5</c:v>
                  </c:pt>
                  <c:pt idx="2">
                    <c:v>Recall@10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3.73</c:v>
                </c:pt>
                <c:pt idx="1">
                  <c:v>13.25</c:v>
                </c:pt>
                <c:pt idx="2">
                  <c:v>21.08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Epoch 3 (default)</c:v>
                </c:pt>
              </c:strCache>
            </c:strRef>
          </c:tx>
          <c:spPr>
            <a:solidFill>
              <a:srgbClr val="2E8BC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2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Recall@1</c:v>
                  </c:pt>
                  <c:pt idx="1">
                    <c:v>Recall@5</c:v>
                  </c:pt>
                  <c:pt idx="2">
                    <c:v>Recall@10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6.16</c:v>
                </c:pt>
                <c:pt idx="1">
                  <c:v>20.52</c:v>
                </c:pt>
                <c:pt idx="2">
                  <c:v>29.85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Epoch 6 (best)</c:v>
                </c:pt>
              </c:strCache>
            </c:strRef>
          </c:tx>
          <c:spPr>
            <a:solidFill>
              <a:srgbClr val="0F346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2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Recall@1</c:v>
                  </c:pt>
                  <c:pt idx="1">
                    <c:v>Recall@5</c:v>
                  </c:pt>
                  <c:pt idx="2">
                    <c:v>Recall@10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7.46</c:v>
                </c:pt>
                <c:pt idx="1">
                  <c:v>21.08</c:v>
                </c:pt>
                <c:pt idx="2">
                  <c:v>30.6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A22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an AI tool that finds suspects in a photo database from a witness's text description or a reference image. Built as a full-stack system with a fine-tuned CLIP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of the talk: motivation, objectives, the model and architecture, then the results — which is where most questions will focus.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semantic gap clearly. Emphasize the system is a decision-support tool producing ranked leads, never an autonomous identification.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concrete objectives. The fifth — quantifying the benefit of fine-tuning — is what sets this apart from a demo and is backed by the results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CLIP simply: it learns to map images and matching captions to nearby points. That shared space is what lets us search images with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tiers plus an AI microservice. The .NET API is the single gateway: the browser never talks to the database or the Python service directly. This centralizes security.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Heterogeneous stack chosen so each tier uses the best tool: Python for ML, C# for the transactional layer, React for the UI. The microservice split lets them evolve independently.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 examiners ask about: CelebA gives binary labels, but CLIP needs captions — so we generate sentences from the attributes. Partial freezing avoids catastrophic forgetting and overfitting.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vectors are precomputed at index time, a search is a single fast matrix operation — effectively instant. Image search is identical except the query is encoded by the image encoder.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Threshold-based query expansion: each slider above 50% appends its attribute phrase to the typed query, and the complete sentence is encoded as one unit. We also implemented a continuous embedding-interpolation variant, but the threshold approach gave more accurate retrieval on our fine-tuned model because encoding the full sentence preserves the contextual interaction between attributes. With no sliders raised it reduces to a plain text 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graph. Walk each line. Recall@1 is strictest and peaks at epoch 6 (7.46%). The dip at epoch 8 is overfitting. Stress all numbers are our own measurements under one protocol.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Grouped bars compare baseline, the deployed default (epoch 3), and the best (epoch 6). The doubling of Recall@1 is the headline result. Mention the random floor for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headline numbers. The overfitting finding is a strength, not a weakness — it shows we evaluated rigorously and understand the model's behavior.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candid about limitations — examiners respect honesty. The most consequential future step is replacing exhaustive search to scale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it together: a working system AND evidence. End on the methodological lesson — integrate early, separate concerns, measure honestly.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Be ready for the graph questions: the learning curve, the doubling, the overfitting at epoch 8, and why epoch 3 is the default while epoch 6 is best.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572000" cy="457200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206240"/>
            <a:ext cx="4023360" cy="402336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 CULPRIT RECOGNITION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49808" y="2743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1D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Forensic Suspect Retrieval System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49808" y="34290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Project  ·  Department of Information Systems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Computer and Information Sciences  ·  Ain Shams University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5029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 </a:t>
            </a:r>
            <a:pPr indent="0" marL="0">
              <a:buNone/>
            </a:pPr>
            <a:r>
              <a:rPr lang="en-US" sz="130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Sayed · Wasim Abdelhalem · Adel Ahmed · Mohamed Mowaffak · Ahmed Zayed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54406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 </a:t>
            </a:r>
            <a:pPr indent="0" marL="0">
              <a:buNone/>
            </a:pPr>
            <a:r>
              <a:rPr lang="en-US" sz="130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Fatma Mohamed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Teaching Assistant:  </a:t>
            </a:r>
            <a:pPr indent="0" marL="0">
              <a:buNone/>
            </a:pPr>
            <a:r>
              <a:rPr lang="en-US" sz="130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Shamia Abdallah Ahmed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5943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/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457200" cy="457200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25880" y="14173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457200" cy="457200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2194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2971800"/>
            <a:ext cx="457200" cy="457200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2971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Background: Vision-Language Models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3749040"/>
            <a:ext cx="457200" cy="457200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3749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4526280"/>
            <a:ext cx="457200" cy="457200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45262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" y="5303520"/>
            <a:ext cx="457200" cy="457200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25880" y="5303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Methodology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00800" y="1417320"/>
            <a:ext cx="457200" cy="457200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95160" y="14173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Search Works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00800" y="2194560"/>
            <a:ext cx="457200" cy="457200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95160" y="2194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Certainty Weighting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00800" y="2971800"/>
            <a:ext cx="457200" cy="457200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995160" y="2971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Evaluation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00800" y="3749040"/>
            <a:ext cx="457200" cy="457200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995160" y="3749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00800" y="4526280"/>
            <a:ext cx="457200" cy="457200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995160" y="45262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00800" y="5303520"/>
            <a:ext cx="457200" cy="457200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0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995160" y="5303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Motivation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F2F6FA"/>
          </a:solidFill>
          <a:ln/>
          <a:effectLst>
            <a:outerShdw sx="100000" sy="100000" kx="0" ky="0" algn="bl" rotWithShape="0" blurRad="101600" dist="38100" dir="5400000">
              <a:srgbClr val="9BB0C5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6459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05840" y="214884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witness describes a suspect in words.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is an unlabelled pile of photographs.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Investigators bridge the two manually — slow, tiring, and inconsistent.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a few hundred images, exhaustive review is impractical.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63640" y="141732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EAF2F8"/>
          </a:solidFill>
          <a:ln/>
          <a:effectLst>
            <a:outerShdw sx="100000" sy="100000" kx="0" ky="0" algn="bl" rotWithShape="0" blurRad="101600" dist="38100" dir="5400000">
              <a:srgbClr val="9BB0C5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37960" y="16459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37960" y="214884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“semantic gap” between language and pixels.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vision-language model to compare text directly with images.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candidates by confidence and present them as leads.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human in the loop — a tool, not an identification.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5212080" cy="1298448"/>
          </a:xfrm>
          <a:prstGeom prst="roundRect">
            <a:avLst>
              <a:gd name="adj" fmla="val 5634"/>
            </a:avLst>
          </a:prstGeom>
          <a:solidFill>
            <a:srgbClr val="F2F6FA"/>
          </a:solidFill>
          <a:ln/>
          <a:effectLst>
            <a:outerShdw sx="100000" sy="100000" kx="0" ky="0" algn="bl" rotWithShape="0" blurRad="101600" dist="38100" dir="5400000">
              <a:srgbClr val="9BB0C5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87552" y="1837944"/>
            <a:ext cx="457200" cy="457200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5" name="Text 3"/>
          <p:cNvSpPr/>
          <p:nvPr/>
        </p:nvSpPr>
        <p:spPr>
          <a:xfrm>
            <a:off x="987552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45920" y="158191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retrieval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45920" y="2020824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 gallery by text description or by a reference image.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0" y="1417320"/>
            <a:ext cx="5212080" cy="1298448"/>
          </a:xfrm>
          <a:prstGeom prst="roundRect">
            <a:avLst>
              <a:gd name="adj" fmla="val 5634"/>
            </a:avLst>
          </a:prstGeom>
          <a:solidFill>
            <a:srgbClr val="F2F6FA"/>
          </a:solidFill>
          <a:ln/>
          <a:effectLst>
            <a:outerShdw sx="100000" sy="100000" kx="0" ky="0" algn="bl" rotWithShape="0" blurRad="101600" dist="38100" dir="5400000">
              <a:srgbClr val="9BB0C5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56832" y="1837944"/>
            <a:ext cx="457200" cy="457200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10" name="Text 8"/>
          <p:cNvSpPr/>
          <p:nvPr/>
        </p:nvSpPr>
        <p:spPr>
          <a:xfrm>
            <a:off x="6656832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0" y="158191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Fine-tuned model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0" y="2020824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 CLIP for facial-attribute matching.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31520" y="2898648"/>
            <a:ext cx="5212080" cy="1298448"/>
          </a:xfrm>
          <a:prstGeom prst="roundRect">
            <a:avLst>
              <a:gd name="adj" fmla="val 5634"/>
            </a:avLst>
          </a:prstGeom>
          <a:solidFill>
            <a:srgbClr val="F2F6FA"/>
          </a:solidFill>
          <a:ln/>
          <a:effectLst>
            <a:outerShdw sx="100000" sy="100000" kx="0" ky="0" algn="bl" rotWithShape="0" blurRad="101600" dist="38100" dir="5400000">
              <a:srgbClr val="9BB0C5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87552" y="3319272"/>
            <a:ext cx="457200" cy="457200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15" name="Text 13"/>
          <p:cNvSpPr/>
          <p:nvPr/>
        </p:nvSpPr>
        <p:spPr>
          <a:xfrm>
            <a:off x="987552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45920" y="3063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Interpretable results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645920" y="350215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matches with clear percentage scores.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0" y="2898648"/>
            <a:ext cx="5212080" cy="1298448"/>
          </a:xfrm>
          <a:prstGeom prst="roundRect">
            <a:avLst>
              <a:gd name="adj" fmla="val 5634"/>
            </a:avLst>
          </a:prstGeom>
          <a:solidFill>
            <a:srgbClr val="F2F6FA"/>
          </a:solidFill>
          <a:ln/>
          <a:effectLst>
            <a:outerShdw sx="100000" sy="100000" kx="0" ky="0" algn="bl" rotWithShape="0" blurRad="101600" dist="38100" dir="5400000">
              <a:srgbClr val="9BB0C5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56832" y="3319272"/>
            <a:ext cx="457200" cy="457200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20" name="Text 18"/>
          <p:cNvSpPr/>
          <p:nvPr/>
        </p:nvSpPr>
        <p:spPr>
          <a:xfrm>
            <a:off x="6656832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15200" y="3063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&amp; multi-user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315200" y="350215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investigator isolated to their own cases.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31520" y="4379976"/>
            <a:ext cx="5212080" cy="1298448"/>
          </a:xfrm>
          <a:prstGeom prst="roundRect">
            <a:avLst>
              <a:gd name="adj" fmla="val 5634"/>
            </a:avLst>
          </a:prstGeom>
          <a:solidFill>
            <a:srgbClr val="F2F6FA"/>
          </a:solidFill>
          <a:ln/>
          <a:effectLst>
            <a:outerShdw sx="100000" sy="100000" kx="0" ky="0" algn="bl" rotWithShape="0" blurRad="101600" dist="38100" dir="5400000">
              <a:srgbClr val="9BB0C5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87552" y="4800600"/>
            <a:ext cx="457200" cy="457200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25" name="Text 23"/>
          <p:cNvSpPr/>
          <p:nvPr/>
        </p:nvSpPr>
        <p:spPr>
          <a:xfrm>
            <a:off x="987552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645920" y="45445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Quantified benefit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645920" y="49834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fine-tuning with Recall@K on our own models.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00800" y="4379976"/>
            <a:ext cx="5212080" cy="1298448"/>
          </a:xfrm>
          <a:prstGeom prst="roundRect">
            <a:avLst>
              <a:gd name="adj" fmla="val 5634"/>
            </a:avLst>
          </a:prstGeom>
          <a:solidFill>
            <a:srgbClr val="F2F6FA"/>
          </a:solidFill>
          <a:ln/>
          <a:effectLst>
            <a:outerShdw sx="100000" sy="100000" kx="0" ky="0" algn="bl" rotWithShape="0" blurRad="101600" dist="38100" dir="5400000">
              <a:srgbClr val="9BB0C5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656832" y="4800600"/>
            <a:ext cx="457200" cy="457200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30" name="Text 28"/>
          <p:cNvSpPr/>
          <p:nvPr/>
        </p:nvSpPr>
        <p:spPr>
          <a:xfrm>
            <a:off x="6656832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315200" y="45445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architecture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7315200" y="49834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Maintainable, service-oriented, extensible design.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Background: Vision-Language Models (CLIP)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E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images and text become points in one shared 512-dimensional space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5212080" cy="1481328"/>
          </a:xfrm>
          <a:prstGeom prst="roundRect">
            <a:avLst>
              <a:gd name="adj" fmla="val 4938"/>
            </a:avLst>
          </a:prstGeom>
          <a:solidFill>
            <a:srgbClr val="F2F6FA"/>
          </a:solidFill>
          <a:ln/>
          <a:effectLst>
            <a:outerShdw sx="100000" sy="100000" kx="0" ky="0" algn="bl" rotWithShape="0" blurRad="101600" dist="38100" dir="5400000">
              <a:srgbClr val="9BB0C5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9659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encoders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2441448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image encoder (ViT-B/32) and a text encoder trained together.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0" y="1783080"/>
            <a:ext cx="5212080" cy="1481328"/>
          </a:xfrm>
          <a:prstGeom prst="roundRect">
            <a:avLst>
              <a:gd name="adj" fmla="val 4938"/>
            </a:avLst>
          </a:prstGeom>
          <a:solidFill>
            <a:srgbClr val="F2F6FA"/>
          </a:solidFill>
          <a:ln/>
          <a:effectLst>
            <a:outerShdw sx="100000" sy="100000" kx="0" ky="0" algn="bl" rotWithShape="0" blurRad="101600" dist="38100" dir="5400000">
              <a:srgbClr val="9BB0C5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20840" y="19659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space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720840" y="2441448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 and a sentence that describes it land close together.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31520" y="3474720"/>
            <a:ext cx="5212080" cy="1481328"/>
          </a:xfrm>
          <a:prstGeom prst="roundRect">
            <a:avLst>
              <a:gd name="adj" fmla="val 4938"/>
            </a:avLst>
          </a:prstGeom>
          <a:solidFill>
            <a:srgbClr val="F2F6FA"/>
          </a:solidFill>
          <a:ln/>
          <a:effectLst>
            <a:outerShdw sx="100000" sy="100000" kx="0" ky="0" algn="bl" rotWithShape="0" blurRad="101600" dist="38100" dir="5400000">
              <a:srgbClr val="9BB0C5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51560" y="3657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Contrastive training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4133088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image–text pairs are pulled together; mismatches pushed apart.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0" y="3474720"/>
            <a:ext cx="5212080" cy="1481328"/>
          </a:xfrm>
          <a:prstGeom prst="roundRect">
            <a:avLst>
              <a:gd name="adj" fmla="val 4938"/>
            </a:avLst>
          </a:prstGeom>
          <a:solidFill>
            <a:srgbClr val="F2F6FA"/>
          </a:solidFill>
          <a:ln/>
          <a:effectLst>
            <a:outerShdw sx="100000" sy="100000" kx="0" ky="0" algn="bl" rotWithShape="0" blurRad="101600" dist="38100" dir="5400000">
              <a:srgbClr val="9BB0C5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3657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comparison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20840" y="4133088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is a simple cosine (dot product) of normalized vectors.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E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web application plus a dedicated AI microservice</a:t>
            </a:r>
            <a:endParaRPr lang="en-US" sz="1400" dirty="0"/>
          </a:p>
        </p:txBody>
      </p:sp>
      <p:pic>
        <p:nvPicPr>
          <p:cNvPr id="4" name="Image 0" descr="F:/GP/code/docs-build/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9424" y="1463040"/>
            <a:ext cx="76809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676656"/>
          </a:xfrm>
          <a:prstGeom prst="roundRect">
            <a:avLst>
              <a:gd name="adj" fmla="val 10811"/>
            </a:avLst>
          </a:prstGeom>
          <a:solidFill>
            <a:srgbClr val="F2F6FA"/>
          </a:solidFill>
          <a:ln/>
          <a:effectLst>
            <a:outerShdw sx="100000" sy="100000" kx="0" ky="0" algn="bl" rotWithShape="0" blurRad="101600" dist="38100" dir="5400000">
              <a:srgbClr val="9BB0C5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463040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023360" y="1463040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Vite · Axios · React Router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249424"/>
            <a:ext cx="10698480" cy="676656"/>
          </a:xfrm>
          <a:prstGeom prst="roundRect">
            <a:avLst>
              <a:gd name="adj" fmla="val 10811"/>
            </a:avLst>
          </a:prstGeom>
          <a:solidFill>
            <a:srgbClr val="EAF2F8"/>
          </a:solidFill>
          <a:ln/>
          <a:effectLst>
            <a:outerShdw sx="100000" sy="100000" kx="0" ky="0" algn="bl" rotWithShape="0" blurRad="101600" dist="38100" dir="5400000">
              <a:srgbClr val="9BB0C5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2249424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API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023360" y="2249424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8 (C#) · JWT · BCrypt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035808"/>
            <a:ext cx="10698480" cy="676656"/>
          </a:xfrm>
          <a:prstGeom prst="roundRect">
            <a:avLst>
              <a:gd name="adj" fmla="val 10811"/>
            </a:avLst>
          </a:prstGeom>
          <a:solidFill>
            <a:srgbClr val="F2F6FA"/>
          </a:solidFill>
          <a:ln/>
          <a:effectLst>
            <a:outerShdw sx="100000" sy="100000" kx="0" ky="0" algn="bl" rotWithShape="0" blurRad="101600" dist="38100" dir="5400000">
              <a:srgbClr val="9BB0C5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3035808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023360" y="3035808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 · Entity Framework Core 8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822192"/>
            <a:ext cx="10698480" cy="676656"/>
          </a:xfrm>
          <a:prstGeom prst="roundRect">
            <a:avLst>
              <a:gd name="adj" fmla="val 10811"/>
            </a:avLst>
          </a:prstGeom>
          <a:solidFill>
            <a:srgbClr val="EAF2F8"/>
          </a:solidFill>
          <a:ln/>
          <a:effectLst>
            <a:outerShdw sx="100000" sy="100000" kx="0" ky="0" algn="bl" rotWithShape="0" blurRad="101600" dist="38100" dir="5400000">
              <a:srgbClr val="9BB0C5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3822192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Service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023360" y="3822192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 · Uvicorn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4608576"/>
            <a:ext cx="10698480" cy="676656"/>
          </a:xfrm>
          <a:prstGeom prst="roundRect">
            <a:avLst>
              <a:gd name="adj" fmla="val 10811"/>
            </a:avLst>
          </a:prstGeom>
          <a:solidFill>
            <a:srgbClr val="F2F6FA"/>
          </a:solidFill>
          <a:ln/>
          <a:effectLst>
            <a:outerShdw sx="100000" sy="100000" kx="0" ky="0" algn="bl" rotWithShape="0" blurRad="101600" dist="38100" dir="5400000">
              <a:srgbClr val="9BB0C5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05840" y="4608576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Framework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023360" y="4608576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(CUDA) · Hugging Face Transformers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1520" y="5394960"/>
            <a:ext cx="10698480" cy="676656"/>
          </a:xfrm>
          <a:prstGeom prst="roundRect">
            <a:avLst>
              <a:gd name="adj" fmla="val 10811"/>
            </a:avLst>
          </a:prstGeom>
          <a:solidFill>
            <a:srgbClr val="EAF2F8"/>
          </a:solidFill>
          <a:ln/>
          <a:effectLst>
            <a:outerShdw sx="100000" sy="100000" kx="0" ky="0" algn="bl" rotWithShape="0" blurRad="101600" dist="38100" dir="5400000">
              <a:srgbClr val="9BB0C5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05840" y="5394960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023360" y="5394960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CLIP ViT-B/32 · 512-dim embeddings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Methodology: Fine-Tuning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E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Specializing a general CLIP model for facial-attribute retrieval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F2F6FA"/>
          </a:solidFill>
          <a:ln/>
          <a:effectLst>
            <a:outerShdw sx="100000" sy="100000" kx="0" ky="0" algn="bl" rotWithShape="0" blurRad="101600" dist="38100" dir="5400000">
              <a:srgbClr val="9BB0C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83080" y="2057400"/>
            <a:ext cx="457200" cy="457200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6" name="Text 4"/>
          <p:cNvSpPr/>
          <p:nvPr/>
        </p:nvSpPr>
        <p:spPr>
          <a:xfrm>
            <a:off x="17830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CelebA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images with 40 binary attributes (glasses, beard, age…).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10128" y="3474720"/>
            <a:ext cx="182880" cy="0"/>
          </a:xfrm>
          <a:prstGeom prst="line">
            <a:avLst/>
          </a:prstGeom>
          <a:noFill/>
          <a:ln w="31750">
            <a:solidFill>
              <a:srgbClr val="2E8BC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520440" y="182880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F2F6FA"/>
          </a:solidFill>
          <a:ln/>
          <a:effectLst>
            <a:outerShdw sx="100000" sy="100000" kx="0" ky="0" algn="bl" rotWithShape="0" blurRad="101600" dist="38100" dir="5400000">
              <a:srgbClr val="9BB0C5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2057400"/>
            <a:ext cx="457200" cy="457200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03320" y="2697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Captions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3703320" y="324612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Rule-based: attributes → natural sentences (e.g. “a man wearing glasses”).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99048" y="3474720"/>
            <a:ext cx="182880" cy="0"/>
          </a:xfrm>
          <a:prstGeom prst="line">
            <a:avLst/>
          </a:prstGeom>
          <a:noFill/>
          <a:ln w="31750">
            <a:solidFill>
              <a:srgbClr val="2E8BC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309360" y="182880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F2F6FA"/>
          </a:solidFill>
          <a:ln/>
          <a:effectLst>
            <a:outerShdw sx="100000" sy="100000" kx="0" ky="0" algn="bl" rotWithShape="0" blurRad="101600" dist="38100" dir="5400000">
              <a:srgbClr val="9BB0C5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60920" y="2057400"/>
            <a:ext cx="457200" cy="457200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18" name="Text 16"/>
          <p:cNvSpPr/>
          <p:nvPr/>
        </p:nvSpPr>
        <p:spPr>
          <a:xfrm>
            <a:off x="73609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92240" y="2697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 Learning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492240" y="324612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pre-trained CLIP; partial freezing of layers.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887968" y="3474720"/>
            <a:ext cx="182880" cy="0"/>
          </a:xfrm>
          <a:prstGeom prst="line">
            <a:avLst/>
          </a:prstGeom>
          <a:noFill/>
          <a:ln w="31750">
            <a:solidFill>
              <a:srgbClr val="2E8BC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098280" y="182880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F2F6FA"/>
          </a:solidFill>
          <a:ln/>
          <a:effectLst>
            <a:outerShdw sx="100000" sy="100000" kx="0" ky="0" algn="bl" rotWithShape="0" blurRad="101600" dist="38100" dir="5400000">
              <a:srgbClr val="9BB0C5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149840" y="2057400"/>
            <a:ext cx="457200" cy="457200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24" name="Text 22"/>
          <p:cNvSpPr/>
          <p:nvPr/>
        </p:nvSpPr>
        <p:spPr>
          <a:xfrm>
            <a:off x="101498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281160" y="2697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Contrastive Training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9281160" y="324612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optimizer · symmetric cross-entropy loss · checkpoints saved per epoch.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Search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E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or image query → one shared space → ranked matches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/>
          <a:effectLst>
            <a:outerShdw sx="100000" sy="100000" kx="0" ky="0" algn="bl" rotWithShape="0" blurRad="101600" dist="38100" dir="5400000">
              <a:srgbClr val="9BB0C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011680"/>
            <a:ext cx="457200" cy="457200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1640" y="17830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 query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754880" y="178308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description (or query image) becomes a 512-dim vector.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31520" y="2862072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/>
          <a:effectLst>
            <a:outerShdw sx="100000" sy="100000" kx="0" ky="0" algn="bl" rotWithShape="0" blurRad="101600" dist="38100" dir="5400000">
              <a:srgbClr val="9BB0C5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05840" y="3090672"/>
            <a:ext cx="457200" cy="457200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91640" y="2862072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index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54880" y="2862072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Pre-computed image vectors for the case are read from disk.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31520" y="3941064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/>
          <a:effectLst>
            <a:outerShdw sx="100000" sy="100000" kx="0" ky="0" algn="bl" rotWithShape="0" blurRad="101600" dist="38100" dir="5400000">
              <a:srgbClr val="9BB0C5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5840" y="4169664"/>
            <a:ext cx="457200" cy="457200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169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91640" y="3941064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similarity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54880" y="3941064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matrix operation scores every image by cosine similarity.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31520" y="5020056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/>
          <a:effectLst>
            <a:outerShdw sx="100000" sy="100000" kx="0" ky="0" algn="bl" rotWithShape="0" blurRad="101600" dist="38100" dir="5400000">
              <a:srgbClr val="9BB0C5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05840" y="5248656"/>
            <a:ext cx="457200" cy="457200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5248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91640" y="5020056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matches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754880" y="5020056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 chooses how many (5 by default), with percentage scores.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Certainty Weighting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E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Letting the investigator express confidence in each facial attribute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5212080" cy="4297680"/>
          </a:xfrm>
          <a:prstGeom prst="roundRect">
            <a:avLst>
              <a:gd name="adj" fmla="val 1702"/>
            </a:avLst>
          </a:prstGeom>
          <a:solidFill>
            <a:srgbClr val="F2F6FA"/>
          </a:solidFill>
          <a:ln/>
          <a:effectLst>
            <a:outerShdw sx="100000" sy="100000" kx="0" ky="0" algn="bl" rotWithShape="0" blurRad="101600" dist="38100" dir="5400000">
              <a:srgbClr val="9BB0C5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783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Sliders for glasses, beard, mustache, hat, bald, young, old.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expresses the witness’s confidence (0–100%).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50%, the attribute phrase is appended to the query.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steers the embedding toward the desired traits.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212080" cy="4297680"/>
          </a:xfrm>
          <a:prstGeom prst="roundRect">
            <a:avLst>
              <a:gd name="adj" fmla="val 1702"/>
            </a:avLst>
          </a:prstGeom>
          <a:solidFill>
            <a:srgbClr val="EAF2F8"/>
          </a:solidFill>
          <a:ln/>
          <a:effectLst>
            <a:outerShdw sx="100000" sy="100000" kx="0" ky="0" algn="bl" rotWithShape="0" blurRad="101600" dist="38100" dir="5400000">
              <a:srgbClr val="9BB0C5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783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537960" y="2377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query:  </a:t>
            </a:r>
            <a:pPr indent="0" marL="0">
              <a:buNone/>
            </a:pPr>
            <a:r>
              <a:rPr lang="en-US" sz="1600" i="1" dirty="0">
                <a:solidFill>
                  <a:srgbClr val="2E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man”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37960" y="2834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Glasses 80%      + Beard 65%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37960" y="3383280"/>
            <a:ext cx="4572000" cy="0"/>
          </a:xfrm>
          <a:prstGeom prst="line">
            <a:avLst/>
          </a:prstGeom>
          <a:noFill/>
          <a:ln w="19050">
            <a:solidFill>
              <a:srgbClr val="2E8B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36118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query:  </a:t>
            </a:r>
            <a:pPr indent="0" marL="0">
              <a:buNone/>
            </a:pPr>
            <a:r>
              <a:rPr lang="en-US" sz="1600" i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man, wearing glasses, with a beard”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49377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lightweight, transparent form of query expansion.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Recall@K Learning Curve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E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all 9 checkpoints over a 536-image CelebA evaluation set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554480"/>
          <a:ext cx="758952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503920" y="1691640"/>
            <a:ext cx="3108960" cy="4480560"/>
          </a:xfrm>
          <a:prstGeom prst="roundRect">
            <a:avLst>
              <a:gd name="adj" fmla="val 2353"/>
            </a:avLst>
          </a:prstGeom>
          <a:solidFill>
            <a:srgbClr val="EAF2F8"/>
          </a:solidFill>
          <a:ln/>
          <a:effectLst>
            <a:outerShdw sx="100000" sy="100000" kx="0" ky="0" algn="bl" rotWithShape="0" blurRad="101600" dist="38100" dir="5400000">
              <a:srgbClr val="9BB0C5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732520" y="18745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curve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732520" y="2377440"/>
            <a:ext cx="2697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jump at epoch 1.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Recall@1 peaks at epoch 6 (7.46%).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Declines through epochs 7–8 = overfitting.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curve cleanly brackets the optimum.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Baseline vs. Fine-Tuned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E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roughly doubles top-1 retrieval accuracy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554480"/>
          <a:ext cx="758952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503920" y="1691640"/>
            <a:ext cx="3108960" cy="4480560"/>
          </a:xfrm>
          <a:prstGeom prst="roundRect">
            <a:avLst>
              <a:gd name="adj" fmla="val 2353"/>
            </a:avLst>
          </a:prstGeom>
          <a:solidFill>
            <a:srgbClr val="EAF2F8"/>
          </a:solidFill>
          <a:ln/>
          <a:effectLst>
            <a:outerShdw sx="100000" sy="100000" kx="0" ky="0" algn="bl" rotWithShape="0" blurRad="101600" dist="38100" dir="5400000">
              <a:srgbClr val="9BB0C5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732520" y="18745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732520" y="2377440"/>
            <a:ext cx="2697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fine-tuned checkpoint beats the baseline on every metric.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Recall@1: 3.73% → 7.46% (a doubling).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chance ≈ 0.19% over 536 images.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F2F6FA"/>
          </a:solidFill>
          <a:ln/>
          <a:effectLst>
            <a:outerShdw sx="100000" sy="100000" kx="0" ky="0" algn="bl" rotWithShape="0" blurRad="101600" dist="38100" dir="5400000">
              <a:srgbClr val="9BB0C5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20116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E8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2×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05840" y="31546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accuracy vs. the pre-trained baseline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34840" y="173736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F2F6FA"/>
          </a:solidFill>
          <a:ln/>
          <a:effectLst>
            <a:outerShdw sx="100000" sy="100000" kx="0" ky="0" algn="bl" rotWithShape="0" blurRad="101600" dist="38100" dir="5400000">
              <a:srgbClr val="9BB0C5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617720" y="20116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E8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Epoch 6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709160" y="31546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checkpoint (Recall@1 = 7.46%)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38160" y="173736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F2F6FA"/>
          </a:solidFill>
          <a:ln/>
          <a:effectLst>
            <a:outerShdw sx="100000" sy="100000" kx="0" ky="0" algn="bl" rotWithShape="0" blurRad="101600" dist="38100" dir="5400000">
              <a:srgbClr val="9BB0C5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321040" y="20116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E8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Epoch 8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8412480" y="31546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dips — onset of overfitting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434840"/>
            <a:ext cx="10744200" cy="1554480"/>
          </a:xfrm>
          <a:prstGeom prst="roundRect">
            <a:avLst>
              <a:gd name="adj" fmla="val 4706"/>
            </a:avLst>
          </a:prstGeom>
          <a:solidFill>
            <a:srgbClr val="EAF2F8"/>
          </a:solidFill>
          <a:ln/>
          <a:effectLst>
            <a:outerShdw sx="100000" sy="100000" kx="0" ky="0" algn="bl" rotWithShape="0" blurRad="101600" dist="38100" dir="5400000">
              <a:srgbClr val="9BB0C5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4572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4937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on facial captions produces a substantial, measurable, and operationally meaningful gain — the correct suspect reaches the very top of the ranking about twice as often — with a clear optimal stopping point before overfitting sets in.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Work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5212080" cy="4572000"/>
          </a:xfrm>
          <a:prstGeom prst="roundRect">
            <a:avLst>
              <a:gd name="adj" fmla="val 1600"/>
            </a:avLst>
          </a:prstGeom>
          <a:solidFill>
            <a:srgbClr val="F2F6FA"/>
          </a:solidFill>
          <a:ln/>
          <a:effectLst>
            <a:outerShdw sx="100000" sy="100000" kx="0" ky="0" algn="bl" rotWithShape="0" blurRad="101600" dist="38100" dir="5400000">
              <a:srgbClr val="9BB0C5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05840" y="224028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on a 536-image subset with rule-based captions (indicative, not definitive).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Exhaustive search — not yet optimized for very large galleries.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security configuration needs hardening.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degrades on occluded or non-frontal faces.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212080" cy="4572000"/>
          </a:xfrm>
          <a:prstGeom prst="roundRect">
            <a:avLst>
              <a:gd name="adj" fmla="val 1600"/>
            </a:avLst>
          </a:prstGeom>
          <a:solidFill>
            <a:srgbClr val="EAF2F8"/>
          </a:solidFill>
          <a:ln/>
          <a:effectLst>
            <a:outerShdw sx="100000" sy="100000" kx="0" ky="0" algn="bl" rotWithShape="0" blurRad="101600" dist="38100" dir="5400000">
              <a:srgbClr val="9BB0C5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3796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537960" y="224028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evaluation on the held-out split with training-aligned captions.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nearest-neighbour index for national-scale galleries.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epoch 6 as default; automate checkpoint selection.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access, audit trail, and containerized deployment.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97680"/>
            <a:ext cx="4206240" cy="420624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737360"/>
            <a:ext cx="9875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secure, multi-user forensic retrieval system driven by text and image queries.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fine-tuned CLIP model specialized for facial-attribute matching.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rigorous evaluation across all checkpoints — fine-tuning doubles top-1 accuracy and peaks at epoch 6.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 working system and defensible evidence about when fine-tuning helps.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5486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21D4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 early · separate concerns · measure honestly.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463040"/>
            <a:ext cx="4572000" cy="457200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023360"/>
            <a:ext cx="4572000" cy="457200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35661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1D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47548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Culprit Recognition  ·  Ain Shams University  ·  2025 /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Help Culprit Recognition</dc:title>
  <dc:subject>PptxGenJS Presentation</dc:subject>
  <dc:creator>Help Culprit Recognition Team</dc:creator>
  <cp:lastModifiedBy>Help Culprit Recognition Team</cp:lastModifiedBy>
  <cp:revision>1</cp:revision>
  <dcterms:created xsi:type="dcterms:W3CDTF">2026-06-28T19:16:21Z</dcterms:created>
  <dcterms:modified xsi:type="dcterms:W3CDTF">2026-06-28T19:16:21Z</dcterms:modified>
</cp:coreProperties>
</file>